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4" r:id="rId2"/>
    <p:sldId id="263"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EC7E69"/>
    <a:srgbClr val="EC7E32"/>
    <a:srgbClr val="E77E32"/>
    <a:srgbClr val="E77E69"/>
    <a:srgbClr val="FF33CC"/>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987" autoAdjust="0"/>
    <p:restoredTop sz="99886" autoAdjust="0"/>
  </p:normalViewPr>
  <p:slideViewPr>
    <p:cSldViewPr snapToGrid="0">
      <p:cViewPr>
        <p:scale>
          <a:sx n="66" d="100"/>
          <a:sy n="66" d="100"/>
        </p:scale>
        <p:origin x="-1286" y="-629"/>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10C68-B77B-4431-A0A7-693CF58E734A}" type="datetimeFigureOut">
              <a:rPr lang="en-IN" smtClean="0"/>
              <a:pPr/>
              <a:t>22-09-2026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2EA21-F04E-4710-B9FC-7A1962EBE760}" type="slidenum">
              <a:rPr lang="en-IN" smtClean="0"/>
              <a:pPr/>
              <a:t>‹#›</a:t>
            </a:fld>
            <a:endParaRPr lang="en-IN"/>
          </a:p>
        </p:txBody>
      </p:sp>
    </p:spTree>
    <p:extLst>
      <p:ext uri="{BB962C8B-B14F-4D97-AF65-F5344CB8AC3E}">
        <p14:creationId xmlns="" xmlns:p14="http://schemas.microsoft.com/office/powerpoint/2010/main" val="133787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a:t>
            </a:fld>
            <a:endParaRPr lang="en-IN"/>
          </a:p>
        </p:txBody>
      </p:sp>
    </p:spTree>
    <p:extLst>
      <p:ext uri="{BB962C8B-B14F-4D97-AF65-F5344CB8AC3E}">
        <p14:creationId xmlns="" xmlns:p14="http://schemas.microsoft.com/office/powerpoint/2010/main" val="109264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2</a:t>
            </a:fld>
            <a:endParaRPr lang="en-IN"/>
          </a:p>
        </p:txBody>
      </p:sp>
    </p:spTree>
    <p:extLst>
      <p:ext uri="{BB962C8B-B14F-4D97-AF65-F5344CB8AC3E}">
        <p14:creationId xmlns="" xmlns:p14="http://schemas.microsoft.com/office/powerpoint/2010/main" val="152724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3</a:t>
            </a:fld>
            <a:endParaRPr lang="en-IN"/>
          </a:p>
        </p:txBody>
      </p:sp>
    </p:spTree>
    <p:extLst>
      <p:ext uri="{BB962C8B-B14F-4D97-AF65-F5344CB8AC3E}">
        <p14:creationId xmlns="" xmlns:p14="http://schemas.microsoft.com/office/powerpoint/2010/main" val="3004057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4</a:t>
            </a:fld>
            <a:endParaRPr lang="en-IN"/>
          </a:p>
        </p:txBody>
      </p:sp>
    </p:spTree>
    <p:extLst>
      <p:ext uri="{BB962C8B-B14F-4D97-AF65-F5344CB8AC3E}">
        <p14:creationId xmlns="" xmlns:p14="http://schemas.microsoft.com/office/powerpoint/2010/main" val="1340016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5</a:t>
            </a:fld>
            <a:endParaRPr lang="en-IN"/>
          </a:p>
        </p:txBody>
      </p:sp>
    </p:spTree>
    <p:extLst>
      <p:ext uri="{BB962C8B-B14F-4D97-AF65-F5344CB8AC3E}">
        <p14:creationId xmlns="" xmlns:p14="http://schemas.microsoft.com/office/powerpoint/2010/main" val="1528908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6</a:t>
            </a:fld>
            <a:endParaRPr lang="en-IN"/>
          </a:p>
        </p:txBody>
      </p:sp>
    </p:spTree>
    <p:extLst>
      <p:ext uri="{BB962C8B-B14F-4D97-AF65-F5344CB8AC3E}">
        <p14:creationId xmlns="" xmlns:p14="http://schemas.microsoft.com/office/powerpoint/2010/main" val="368948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7</a:t>
            </a:fld>
            <a:endParaRPr lang="en-IN"/>
          </a:p>
        </p:txBody>
      </p:sp>
    </p:spTree>
    <p:extLst>
      <p:ext uri="{BB962C8B-B14F-4D97-AF65-F5344CB8AC3E}">
        <p14:creationId xmlns="" xmlns:p14="http://schemas.microsoft.com/office/powerpoint/2010/main" val="1547607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8</a:t>
            </a:fld>
            <a:endParaRPr lang="en-IN"/>
          </a:p>
        </p:txBody>
      </p:sp>
    </p:spTree>
    <p:extLst>
      <p:ext uri="{BB962C8B-B14F-4D97-AF65-F5344CB8AC3E}">
        <p14:creationId xmlns="" xmlns:p14="http://schemas.microsoft.com/office/powerpoint/2010/main" val="1894836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9</a:t>
            </a:fld>
            <a:endParaRPr lang="en-IN"/>
          </a:p>
        </p:txBody>
      </p:sp>
    </p:spTree>
    <p:extLst>
      <p:ext uri="{BB962C8B-B14F-4D97-AF65-F5344CB8AC3E}">
        <p14:creationId xmlns="" xmlns:p14="http://schemas.microsoft.com/office/powerpoint/2010/main" val="2311426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10</a:t>
            </a:fld>
            <a:endParaRPr lang="en-IN"/>
          </a:p>
        </p:txBody>
      </p:sp>
    </p:spTree>
    <p:extLst>
      <p:ext uri="{BB962C8B-B14F-4D97-AF65-F5344CB8AC3E}">
        <p14:creationId xmlns="" xmlns:p14="http://schemas.microsoft.com/office/powerpoint/2010/main" val="251725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11</a:t>
            </a:fld>
            <a:endParaRPr lang="en-IN"/>
          </a:p>
        </p:txBody>
      </p:sp>
    </p:spTree>
    <p:extLst>
      <p:ext uri="{BB962C8B-B14F-4D97-AF65-F5344CB8AC3E}">
        <p14:creationId xmlns="" xmlns:p14="http://schemas.microsoft.com/office/powerpoint/2010/main" val="744938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12</a:t>
            </a:fld>
            <a:endParaRPr lang="en-IN"/>
          </a:p>
        </p:txBody>
      </p:sp>
    </p:spTree>
    <p:extLst>
      <p:ext uri="{BB962C8B-B14F-4D97-AF65-F5344CB8AC3E}">
        <p14:creationId xmlns="" xmlns:p14="http://schemas.microsoft.com/office/powerpoint/2010/main" val="1449614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13</a:t>
            </a:fld>
            <a:endParaRPr lang="en-IN"/>
          </a:p>
        </p:txBody>
      </p:sp>
    </p:spTree>
    <p:extLst>
      <p:ext uri="{BB962C8B-B14F-4D97-AF65-F5344CB8AC3E}">
        <p14:creationId xmlns="" xmlns:p14="http://schemas.microsoft.com/office/powerpoint/2010/main" val="3058995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14</a:t>
            </a:fld>
            <a:endParaRPr lang="en-IN"/>
          </a:p>
        </p:txBody>
      </p:sp>
    </p:spTree>
    <p:extLst>
      <p:ext uri="{BB962C8B-B14F-4D97-AF65-F5344CB8AC3E}">
        <p14:creationId xmlns="" xmlns:p14="http://schemas.microsoft.com/office/powerpoint/2010/main" val="3581895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15</a:t>
            </a:fld>
            <a:endParaRPr lang="en-IN"/>
          </a:p>
        </p:txBody>
      </p:sp>
    </p:spTree>
    <p:extLst>
      <p:ext uri="{BB962C8B-B14F-4D97-AF65-F5344CB8AC3E}">
        <p14:creationId xmlns="" xmlns:p14="http://schemas.microsoft.com/office/powerpoint/2010/main" val="3296213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16</a:t>
            </a:fld>
            <a:endParaRPr lang="en-IN"/>
          </a:p>
        </p:txBody>
      </p:sp>
    </p:spTree>
    <p:extLst>
      <p:ext uri="{BB962C8B-B14F-4D97-AF65-F5344CB8AC3E}">
        <p14:creationId xmlns="" xmlns:p14="http://schemas.microsoft.com/office/powerpoint/2010/main" val="581699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17</a:t>
            </a:fld>
            <a:endParaRPr lang="en-IN"/>
          </a:p>
        </p:txBody>
      </p:sp>
    </p:spTree>
    <p:extLst>
      <p:ext uri="{BB962C8B-B14F-4D97-AF65-F5344CB8AC3E}">
        <p14:creationId xmlns="" xmlns:p14="http://schemas.microsoft.com/office/powerpoint/2010/main" val="4212337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18</a:t>
            </a:fld>
            <a:endParaRPr lang="en-IN"/>
          </a:p>
        </p:txBody>
      </p:sp>
    </p:spTree>
    <p:extLst>
      <p:ext uri="{BB962C8B-B14F-4D97-AF65-F5344CB8AC3E}">
        <p14:creationId xmlns="" xmlns:p14="http://schemas.microsoft.com/office/powerpoint/2010/main" val="802416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pPr/>
              <a:t>19</a:t>
            </a:fld>
            <a:endParaRPr lang="en-IN"/>
          </a:p>
        </p:txBody>
      </p:sp>
    </p:spTree>
    <p:extLst>
      <p:ext uri="{BB962C8B-B14F-4D97-AF65-F5344CB8AC3E}">
        <p14:creationId xmlns="" xmlns:p14="http://schemas.microsoft.com/office/powerpoint/2010/main" val="3429130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77534E-BF6C-2CFD-16E9-84EA617213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E5280B7E-AAA9-C962-786B-78A0B50E67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4E2E0A7F-5868-6266-DF6E-1BBFCC073A0F}"/>
              </a:ext>
            </a:extLst>
          </p:cNvPr>
          <p:cNvSpPr>
            <a:spLocks noGrp="1"/>
          </p:cNvSpPr>
          <p:nvPr>
            <p:ph type="dt" sz="half" idx="10"/>
          </p:nvPr>
        </p:nvSpPr>
        <p:spPr/>
        <p:txBody>
          <a:bodyPr/>
          <a:lstStyle/>
          <a:p>
            <a:fld id="{6F881051-4A15-4975-B283-5AE4382EA000}" type="datetime1">
              <a:rPr lang="en-IN" smtClean="0"/>
              <a:pPr/>
              <a:t>22-09-2026</a:t>
            </a:fld>
            <a:endParaRPr lang="en-IN"/>
          </a:p>
        </p:txBody>
      </p:sp>
      <p:sp>
        <p:nvSpPr>
          <p:cNvPr id="5" name="Footer Placeholder 4">
            <a:extLst>
              <a:ext uri="{FF2B5EF4-FFF2-40B4-BE49-F238E27FC236}">
                <a16:creationId xmlns="" xmlns:a16="http://schemas.microsoft.com/office/drawing/2014/main" id="{F7B2573E-23F6-BE97-E5F6-D90496C55B87}"/>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 xmlns:a16="http://schemas.microsoft.com/office/drawing/2014/main" id="{4D7E5366-8A91-F195-6550-6C84F49F44A2}"/>
              </a:ext>
            </a:extLst>
          </p:cNvPr>
          <p:cNvSpPr>
            <a:spLocks noGrp="1"/>
          </p:cNvSpPr>
          <p:nvPr>
            <p:ph type="sldNum" sz="quarter" idx="12"/>
          </p:nvPr>
        </p:nvSpPr>
        <p:spPr/>
        <p:txBody>
          <a:bodyPr/>
          <a:lstStyle/>
          <a:p>
            <a:r>
              <a:rPr lang="en-IN" dirty="0" smtClean="0"/>
              <a:t>Slide </a:t>
            </a:r>
            <a:fld id="{0F06A4E2-163B-4ABA-8562-AD05AC3F17C5}" type="slidenum">
              <a:rPr lang="en-IN" smtClean="0"/>
              <a:pPr/>
              <a:t>‹#›</a:t>
            </a:fld>
            <a:r>
              <a:rPr lang="en-IN" dirty="0" smtClean="0"/>
              <a:t> 75</a:t>
            </a:r>
            <a:endParaRPr lang="en-IN" dirty="0"/>
          </a:p>
        </p:txBody>
      </p:sp>
    </p:spTree>
    <p:extLst>
      <p:ext uri="{BB962C8B-B14F-4D97-AF65-F5344CB8AC3E}">
        <p14:creationId xmlns="" xmlns:p14="http://schemas.microsoft.com/office/powerpoint/2010/main" val="17875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A9E308-5323-AE5D-6FA7-ED71A6BAE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5E5A451D-BD97-7FD0-FF0C-A5112C679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691E600-3BBF-7179-64F8-7BF678584D79}"/>
              </a:ext>
            </a:extLst>
          </p:cNvPr>
          <p:cNvSpPr>
            <a:spLocks noGrp="1"/>
          </p:cNvSpPr>
          <p:nvPr>
            <p:ph type="dt" sz="half" idx="10"/>
          </p:nvPr>
        </p:nvSpPr>
        <p:spPr/>
        <p:txBody>
          <a:bodyPr/>
          <a:lstStyle/>
          <a:p>
            <a:fld id="{448024DB-6B9A-4615-862D-DCC9162E1D46}" type="datetime1">
              <a:rPr lang="en-IN" smtClean="0"/>
              <a:pPr/>
              <a:t>22-09-2026</a:t>
            </a:fld>
            <a:endParaRPr lang="en-IN"/>
          </a:p>
        </p:txBody>
      </p:sp>
      <p:sp>
        <p:nvSpPr>
          <p:cNvPr id="5" name="Footer Placeholder 4">
            <a:extLst>
              <a:ext uri="{FF2B5EF4-FFF2-40B4-BE49-F238E27FC236}">
                <a16:creationId xmlns="" xmlns:a16="http://schemas.microsoft.com/office/drawing/2014/main" id="{B5A049D0-589B-356A-C132-17EC1259BAA1}"/>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 xmlns:a16="http://schemas.microsoft.com/office/drawing/2014/main" id="{4ADB78BB-28AC-EA14-DC42-29260E08FF3D}"/>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3946198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4207D0-82DE-FA4A-EADB-1BEC487A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C8600A5-5C2C-00C3-916A-DF6214BB9F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44B2F5CE-74CC-CF22-710E-082B7D801E88}"/>
              </a:ext>
            </a:extLst>
          </p:cNvPr>
          <p:cNvSpPr>
            <a:spLocks noGrp="1"/>
          </p:cNvSpPr>
          <p:nvPr>
            <p:ph type="dt" sz="half" idx="10"/>
          </p:nvPr>
        </p:nvSpPr>
        <p:spPr/>
        <p:txBody>
          <a:bodyPr/>
          <a:lstStyle/>
          <a:p>
            <a:fld id="{456FCEB4-FD16-4B07-9207-FB300F7B14E0}" type="datetime1">
              <a:rPr lang="en-IN" smtClean="0"/>
              <a:pPr/>
              <a:t>22-09-2026</a:t>
            </a:fld>
            <a:endParaRPr lang="en-IN"/>
          </a:p>
        </p:txBody>
      </p:sp>
      <p:sp>
        <p:nvSpPr>
          <p:cNvPr id="5" name="Footer Placeholder 4">
            <a:extLst>
              <a:ext uri="{FF2B5EF4-FFF2-40B4-BE49-F238E27FC236}">
                <a16:creationId xmlns="" xmlns:a16="http://schemas.microsoft.com/office/drawing/2014/main" id="{148AAAD5-EBF3-6851-32E4-D4FBA96C1FDB}"/>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 xmlns:a16="http://schemas.microsoft.com/office/drawing/2014/main" id="{05573601-9A03-2F15-2F0A-327D55FFD25C}"/>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1001875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4E6E04-DE19-84EF-6EAD-5E68D54F7A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56136FCB-7A4F-B695-D2E9-54090A9445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95EC53CD-6C00-99BA-5BD0-0E766D390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7DA650DD-602A-CC85-5499-22E0FF3010F3}"/>
              </a:ext>
            </a:extLst>
          </p:cNvPr>
          <p:cNvSpPr>
            <a:spLocks noGrp="1"/>
          </p:cNvSpPr>
          <p:nvPr>
            <p:ph type="dt" sz="half" idx="10"/>
          </p:nvPr>
        </p:nvSpPr>
        <p:spPr/>
        <p:txBody>
          <a:bodyPr/>
          <a:lstStyle/>
          <a:p>
            <a:fld id="{76E49330-105E-4C2D-A945-D7CB0B65AA0D}" type="datetime1">
              <a:rPr lang="en-IN" smtClean="0"/>
              <a:pPr/>
              <a:t>22-09-2026</a:t>
            </a:fld>
            <a:endParaRPr lang="en-IN"/>
          </a:p>
        </p:txBody>
      </p:sp>
      <p:sp>
        <p:nvSpPr>
          <p:cNvPr id="6" name="Footer Placeholder 5">
            <a:extLst>
              <a:ext uri="{FF2B5EF4-FFF2-40B4-BE49-F238E27FC236}">
                <a16:creationId xmlns="" xmlns:a16="http://schemas.microsoft.com/office/drawing/2014/main" id="{EB49BBE1-B537-7E2E-C2C4-08845C67D111}"/>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 xmlns:a16="http://schemas.microsoft.com/office/drawing/2014/main" id="{3FF4B757-EF27-F899-BAF4-B18811737387}"/>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217936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7AA2E0-9C62-08C2-AB3E-B35BC5C5A0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DC222F9-75B3-17FE-C283-DD4BECA435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261EB91-21C0-BA49-75C9-60FD0E0EF9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AE401927-DF5C-9C56-8562-7016E65722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DF9C59F2-F071-5440-8C46-00C73B7D05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B0961286-08BE-878F-F428-4DDDD6BC5679}"/>
              </a:ext>
            </a:extLst>
          </p:cNvPr>
          <p:cNvSpPr>
            <a:spLocks noGrp="1"/>
          </p:cNvSpPr>
          <p:nvPr>
            <p:ph type="dt" sz="half" idx="10"/>
          </p:nvPr>
        </p:nvSpPr>
        <p:spPr/>
        <p:txBody>
          <a:bodyPr/>
          <a:lstStyle/>
          <a:p>
            <a:fld id="{B7A2F794-44E1-4BEF-BC28-A1686AB91B35}" type="datetime1">
              <a:rPr lang="en-IN" smtClean="0"/>
              <a:pPr/>
              <a:t>22-09-2026</a:t>
            </a:fld>
            <a:endParaRPr lang="en-IN"/>
          </a:p>
        </p:txBody>
      </p:sp>
      <p:sp>
        <p:nvSpPr>
          <p:cNvPr id="8" name="Footer Placeholder 7">
            <a:extLst>
              <a:ext uri="{FF2B5EF4-FFF2-40B4-BE49-F238E27FC236}">
                <a16:creationId xmlns="" xmlns:a16="http://schemas.microsoft.com/office/drawing/2014/main" id="{811F68E0-6F17-B4CD-53C3-DFC164696B83}"/>
              </a:ext>
            </a:extLst>
          </p:cNvPr>
          <p:cNvSpPr>
            <a:spLocks noGrp="1"/>
          </p:cNvSpPr>
          <p:nvPr>
            <p:ph type="ftr" sz="quarter" idx="11"/>
          </p:nvPr>
        </p:nvSpPr>
        <p:spPr/>
        <p:txBody>
          <a:bodyPr/>
          <a:lstStyle/>
          <a:p>
            <a:r>
              <a:rPr lang="en-IN"/>
              <a:t>VVIT @ Dept. CSM</a:t>
            </a:r>
          </a:p>
        </p:txBody>
      </p:sp>
      <p:sp>
        <p:nvSpPr>
          <p:cNvPr id="9" name="Slide Number Placeholder 8">
            <a:extLst>
              <a:ext uri="{FF2B5EF4-FFF2-40B4-BE49-F238E27FC236}">
                <a16:creationId xmlns="" xmlns:a16="http://schemas.microsoft.com/office/drawing/2014/main" id="{41AC4CBA-01B5-C2C4-5335-B4EB35E5A07A}"/>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124233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903B32-7417-39CF-B839-3EEB29A1C4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5F6A2FE7-36B6-6E9C-5856-38F958DDB604}"/>
              </a:ext>
            </a:extLst>
          </p:cNvPr>
          <p:cNvSpPr>
            <a:spLocks noGrp="1"/>
          </p:cNvSpPr>
          <p:nvPr>
            <p:ph type="dt" sz="half" idx="10"/>
          </p:nvPr>
        </p:nvSpPr>
        <p:spPr/>
        <p:txBody>
          <a:bodyPr/>
          <a:lstStyle/>
          <a:p>
            <a:fld id="{D43309A1-C81B-427D-BCEA-27B741B28E1A}" type="datetime1">
              <a:rPr lang="en-IN" smtClean="0"/>
              <a:pPr/>
              <a:t>22-09-2026</a:t>
            </a:fld>
            <a:endParaRPr lang="en-IN"/>
          </a:p>
        </p:txBody>
      </p:sp>
      <p:sp>
        <p:nvSpPr>
          <p:cNvPr id="4" name="Footer Placeholder 3">
            <a:extLst>
              <a:ext uri="{FF2B5EF4-FFF2-40B4-BE49-F238E27FC236}">
                <a16:creationId xmlns="" xmlns:a16="http://schemas.microsoft.com/office/drawing/2014/main" id="{BDE31B30-D694-3C06-A324-C1D899945598}"/>
              </a:ext>
            </a:extLst>
          </p:cNvPr>
          <p:cNvSpPr>
            <a:spLocks noGrp="1"/>
          </p:cNvSpPr>
          <p:nvPr>
            <p:ph type="ftr" sz="quarter" idx="11"/>
          </p:nvPr>
        </p:nvSpPr>
        <p:spPr/>
        <p:txBody>
          <a:bodyPr/>
          <a:lstStyle/>
          <a:p>
            <a:r>
              <a:rPr lang="en-IN"/>
              <a:t>VVIT @ Dept. CSM</a:t>
            </a:r>
          </a:p>
        </p:txBody>
      </p:sp>
      <p:sp>
        <p:nvSpPr>
          <p:cNvPr id="5" name="Slide Number Placeholder 4">
            <a:extLst>
              <a:ext uri="{FF2B5EF4-FFF2-40B4-BE49-F238E27FC236}">
                <a16:creationId xmlns="" xmlns:a16="http://schemas.microsoft.com/office/drawing/2014/main" id="{291F9968-5814-8F57-EE5C-05F51ABB341A}"/>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4012534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7A244DA-A9F6-ED5C-2118-0A44894C883C}"/>
              </a:ext>
            </a:extLst>
          </p:cNvPr>
          <p:cNvSpPr>
            <a:spLocks noGrp="1"/>
          </p:cNvSpPr>
          <p:nvPr>
            <p:ph type="dt" sz="half" idx="10"/>
          </p:nvPr>
        </p:nvSpPr>
        <p:spPr/>
        <p:txBody>
          <a:bodyPr/>
          <a:lstStyle/>
          <a:p>
            <a:fld id="{3D6757F5-B3DD-41B2-8AD1-E2C7F01E8325}" type="datetime1">
              <a:rPr lang="en-IN" smtClean="0"/>
              <a:pPr/>
              <a:t>22-09-2026</a:t>
            </a:fld>
            <a:endParaRPr lang="en-IN"/>
          </a:p>
        </p:txBody>
      </p:sp>
      <p:sp>
        <p:nvSpPr>
          <p:cNvPr id="3" name="Footer Placeholder 2">
            <a:extLst>
              <a:ext uri="{FF2B5EF4-FFF2-40B4-BE49-F238E27FC236}">
                <a16:creationId xmlns="" xmlns:a16="http://schemas.microsoft.com/office/drawing/2014/main" id="{C7500EC8-C1AB-B577-EA4E-7D2E7D7F1C35}"/>
              </a:ext>
            </a:extLst>
          </p:cNvPr>
          <p:cNvSpPr>
            <a:spLocks noGrp="1"/>
          </p:cNvSpPr>
          <p:nvPr>
            <p:ph type="ftr" sz="quarter" idx="11"/>
          </p:nvPr>
        </p:nvSpPr>
        <p:spPr/>
        <p:txBody>
          <a:bodyPr/>
          <a:lstStyle/>
          <a:p>
            <a:r>
              <a:rPr lang="en-IN"/>
              <a:t>VVIT @ Dept. CSM</a:t>
            </a:r>
          </a:p>
        </p:txBody>
      </p:sp>
      <p:sp>
        <p:nvSpPr>
          <p:cNvPr id="4" name="Slide Number Placeholder 3">
            <a:extLst>
              <a:ext uri="{FF2B5EF4-FFF2-40B4-BE49-F238E27FC236}">
                <a16:creationId xmlns="" xmlns:a16="http://schemas.microsoft.com/office/drawing/2014/main" id="{0B839834-7C1C-DD95-00F7-1046CC02C973}"/>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329420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F0408B-6746-EBBF-A1B8-482E0D54EF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2DA8A51-0194-E201-F62E-7028F4490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5DADF6D2-0007-C8C6-5E66-A73252FA5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4D9C60F-EE63-63C0-A3C9-201A1DEB63F4}"/>
              </a:ext>
            </a:extLst>
          </p:cNvPr>
          <p:cNvSpPr>
            <a:spLocks noGrp="1"/>
          </p:cNvSpPr>
          <p:nvPr>
            <p:ph type="dt" sz="half" idx="10"/>
          </p:nvPr>
        </p:nvSpPr>
        <p:spPr/>
        <p:txBody>
          <a:bodyPr/>
          <a:lstStyle/>
          <a:p>
            <a:fld id="{32632F12-6279-426C-8A42-8E638B69DA5E}" type="datetime1">
              <a:rPr lang="en-IN" smtClean="0"/>
              <a:pPr/>
              <a:t>22-09-2026</a:t>
            </a:fld>
            <a:endParaRPr lang="en-IN"/>
          </a:p>
        </p:txBody>
      </p:sp>
      <p:sp>
        <p:nvSpPr>
          <p:cNvPr id="6" name="Footer Placeholder 5">
            <a:extLst>
              <a:ext uri="{FF2B5EF4-FFF2-40B4-BE49-F238E27FC236}">
                <a16:creationId xmlns="" xmlns:a16="http://schemas.microsoft.com/office/drawing/2014/main" id="{71E88CB9-B2B4-DD3C-DF42-5FF8C80C0643}"/>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 xmlns:a16="http://schemas.microsoft.com/office/drawing/2014/main" id="{5B5FCC53-DC75-9AFB-03C5-B065AC50C19F}"/>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4045669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F614FA-37B6-93A5-E0E8-E926B5368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180E05A2-0EA7-C30C-EFFA-E0B149436A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D8B07175-07C8-0612-615D-57BF8C074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D236AA1-2BD7-CB7C-1AA4-34D02985A83E}"/>
              </a:ext>
            </a:extLst>
          </p:cNvPr>
          <p:cNvSpPr>
            <a:spLocks noGrp="1"/>
          </p:cNvSpPr>
          <p:nvPr>
            <p:ph type="dt" sz="half" idx="10"/>
          </p:nvPr>
        </p:nvSpPr>
        <p:spPr/>
        <p:txBody>
          <a:bodyPr/>
          <a:lstStyle/>
          <a:p>
            <a:fld id="{2ABB4110-22B7-47D9-9F58-54C5B302AF6D}" type="datetime1">
              <a:rPr lang="en-IN" smtClean="0"/>
              <a:pPr/>
              <a:t>22-09-2026</a:t>
            </a:fld>
            <a:endParaRPr lang="en-IN"/>
          </a:p>
        </p:txBody>
      </p:sp>
      <p:sp>
        <p:nvSpPr>
          <p:cNvPr id="6" name="Footer Placeholder 5">
            <a:extLst>
              <a:ext uri="{FF2B5EF4-FFF2-40B4-BE49-F238E27FC236}">
                <a16:creationId xmlns="" xmlns:a16="http://schemas.microsoft.com/office/drawing/2014/main" id="{37CC2950-CA0B-091E-E2BA-A60E75FD6138}"/>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 xmlns:a16="http://schemas.microsoft.com/office/drawing/2014/main" id="{EB068AF4-0554-5223-D39A-DA1DC68D03CE}"/>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217663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CE9AE2-374C-4EF3-9532-31D0CE1D4F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0D2E305-5684-04F7-337B-C867ECD394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5744A89-E93B-DDA0-25FF-C2242EE97D80}"/>
              </a:ext>
            </a:extLst>
          </p:cNvPr>
          <p:cNvSpPr>
            <a:spLocks noGrp="1"/>
          </p:cNvSpPr>
          <p:nvPr>
            <p:ph type="dt" sz="half" idx="10"/>
          </p:nvPr>
        </p:nvSpPr>
        <p:spPr/>
        <p:txBody>
          <a:bodyPr/>
          <a:lstStyle/>
          <a:p>
            <a:fld id="{80575400-B1DF-4AF6-AB50-CBCE8962669C}" type="datetime1">
              <a:rPr lang="en-IN" smtClean="0"/>
              <a:pPr/>
              <a:t>22-09-2026</a:t>
            </a:fld>
            <a:endParaRPr lang="en-IN"/>
          </a:p>
        </p:txBody>
      </p:sp>
      <p:sp>
        <p:nvSpPr>
          <p:cNvPr id="5" name="Footer Placeholder 4">
            <a:extLst>
              <a:ext uri="{FF2B5EF4-FFF2-40B4-BE49-F238E27FC236}">
                <a16:creationId xmlns="" xmlns:a16="http://schemas.microsoft.com/office/drawing/2014/main" id="{CBDDB2AC-EE20-661D-48EC-09C572C9F8E2}"/>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 xmlns:a16="http://schemas.microsoft.com/office/drawing/2014/main" id="{9DA2A3F4-0238-70CC-420E-0F280FECAE9F}"/>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362195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FA41AF6-9AAD-E282-9DDD-E66CF88ADC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BBCF3A46-D4B7-3837-9A94-A663DE2A2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AB33946-DFAA-48C8-71CA-3B2501710AE7}"/>
              </a:ext>
            </a:extLst>
          </p:cNvPr>
          <p:cNvSpPr>
            <a:spLocks noGrp="1"/>
          </p:cNvSpPr>
          <p:nvPr>
            <p:ph type="dt" sz="half" idx="10"/>
          </p:nvPr>
        </p:nvSpPr>
        <p:spPr/>
        <p:txBody>
          <a:bodyPr/>
          <a:lstStyle/>
          <a:p>
            <a:fld id="{E8A8D284-3CDB-49DE-A927-05878722C64F}" type="datetime1">
              <a:rPr lang="en-IN" smtClean="0"/>
              <a:pPr/>
              <a:t>22-09-2026</a:t>
            </a:fld>
            <a:endParaRPr lang="en-IN"/>
          </a:p>
        </p:txBody>
      </p:sp>
      <p:sp>
        <p:nvSpPr>
          <p:cNvPr id="5" name="Footer Placeholder 4">
            <a:extLst>
              <a:ext uri="{FF2B5EF4-FFF2-40B4-BE49-F238E27FC236}">
                <a16:creationId xmlns="" xmlns:a16="http://schemas.microsoft.com/office/drawing/2014/main" id="{437106D7-F25C-47BB-2611-089736A84EF9}"/>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 xmlns:a16="http://schemas.microsoft.com/office/drawing/2014/main" id="{9FE811E5-1590-562C-784B-5F2A1B3D365F}"/>
              </a:ext>
            </a:extLst>
          </p:cNvPr>
          <p:cNvSpPr>
            <a:spLocks noGrp="1"/>
          </p:cNvSpPr>
          <p:nvPr>
            <p:ph type="sldNum" sz="quarter" idx="12"/>
          </p:nvPr>
        </p:nvSpPr>
        <p:spPr/>
        <p:txBody>
          <a:body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258582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DEF6F91-B629-DA42-57EF-31DA782B6B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62AECB1-08ED-AF18-FDF8-8FE7F9F7D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3CC7C5D-06B8-2007-9878-FF4B74A5DC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B7110-61B4-45BA-A110-4FCE83D5E720}" type="datetime1">
              <a:rPr lang="en-IN" smtClean="0"/>
              <a:pPr/>
              <a:t>22-09-2026</a:t>
            </a:fld>
            <a:endParaRPr lang="en-IN"/>
          </a:p>
        </p:txBody>
      </p:sp>
      <p:sp>
        <p:nvSpPr>
          <p:cNvPr id="5" name="Footer Placeholder 4">
            <a:extLst>
              <a:ext uri="{FF2B5EF4-FFF2-40B4-BE49-F238E27FC236}">
                <a16:creationId xmlns="" xmlns:a16="http://schemas.microsoft.com/office/drawing/2014/main" id="{0638ADC9-EB89-D372-7DE5-F164AC424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VVIT @ Dept. CSM</a:t>
            </a:r>
          </a:p>
        </p:txBody>
      </p:sp>
      <p:sp>
        <p:nvSpPr>
          <p:cNvPr id="6" name="Slide Number Placeholder 5">
            <a:extLst>
              <a:ext uri="{FF2B5EF4-FFF2-40B4-BE49-F238E27FC236}">
                <a16:creationId xmlns="" xmlns:a16="http://schemas.microsoft.com/office/drawing/2014/main" id="{454E92DD-B99B-9C26-E756-4CB70ABD4D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6A4E2-163B-4ABA-8562-AD05AC3F17C5}" type="slidenum">
              <a:rPr lang="en-IN" smtClean="0"/>
              <a:pPr/>
              <a:t>‹#›</a:t>
            </a:fld>
            <a:endParaRPr lang="en-IN"/>
          </a:p>
        </p:txBody>
      </p:sp>
    </p:spTree>
    <p:extLst>
      <p:ext uri="{BB962C8B-B14F-4D97-AF65-F5344CB8AC3E}">
        <p14:creationId xmlns="" xmlns:p14="http://schemas.microsoft.com/office/powerpoint/2010/main" val="2166726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1A8B0-3C3E-4DAC-946D-F1A2452D5558}" type="datetime1">
              <a:rPr lang="en-IN" smtClean="0">
                <a:solidFill>
                  <a:srgbClr val="E77E69"/>
                </a:solidFill>
              </a:rPr>
              <a:pPr/>
              <a:t>22-09-2026</a:t>
            </a:fld>
            <a:endParaRPr lang="en-IN" dirty="0">
              <a:solidFill>
                <a:srgbClr val="E77E69"/>
              </a:solidFill>
            </a:endParaRPr>
          </a:p>
        </p:txBody>
      </p:sp>
      <p:sp>
        <p:nvSpPr>
          <p:cNvPr id="4" name="Slide Number Placeholder 3"/>
          <p:cNvSpPr>
            <a:spLocks noGrp="1"/>
          </p:cNvSpPr>
          <p:nvPr>
            <p:ph type="sldNum" sz="quarter" idx="12"/>
          </p:nvPr>
        </p:nvSpPr>
        <p:spPr/>
        <p:txBody>
          <a:bodyPr/>
          <a:lstStyle/>
          <a:p>
            <a:fld id="{0F06A4E2-163B-4ABA-8562-AD05AC3F17C5}" type="slidenum">
              <a:rPr lang="en-IN" smtClean="0">
                <a:solidFill>
                  <a:srgbClr val="E77E69"/>
                </a:solidFill>
              </a:rPr>
              <a:pPr/>
              <a:t>1</a:t>
            </a:fld>
            <a:endParaRPr lang="en-IN" dirty="0">
              <a:solidFill>
                <a:srgbClr val="E77E69"/>
              </a:solidFill>
            </a:endParaRP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008880" y="223842"/>
            <a:ext cx="2174240" cy="1517438"/>
          </a:xfrm>
          <a:prstGeom prst="rect">
            <a:avLst/>
          </a:prstGeom>
        </p:spPr>
      </p:pic>
      <p:sp>
        <p:nvSpPr>
          <p:cNvPr id="6" name="TextBox 5"/>
          <p:cNvSpPr txBox="1"/>
          <p:nvPr/>
        </p:nvSpPr>
        <p:spPr>
          <a:xfrm>
            <a:off x="1184698" y="1968753"/>
            <a:ext cx="9822608" cy="523220"/>
          </a:xfrm>
          <a:prstGeom prst="rect">
            <a:avLst/>
          </a:prstGeom>
          <a:noFill/>
        </p:spPr>
        <p:txBody>
          <a:bodyPr wrap="square" rtlCol="0">
            <a:spAutoFit/>
          </a:bodyPr>
          <a:lstStyle/>
          <a:p>
            <a:pPr algn="ctr"/>
            <a:r>
              <a:rPr lang="en-US" sz="2800" dirty="0" smtClean="0">
                <a:latin typeface="Times New Roman" pitchFamily="18" charset="0"/>
                <a:cs typeface="Times New Roman" pitchFamily="18" charset="0"/>
              </a:rPr>
              <a:t>A Closed Loop </a:t>
            </a:r>
            <a:r>
              <a:rPr lang="en-US" sz="2800" dirty="0" err="1" smtClean="0">
                <a:latin typeface="Times New Roman" pitchFamily="18" charset="0"/>
                <a:cs typeface="Times New Roman" pitchFamily="18" charset="0"/>
              </a:rPr>
              <a:t>Agentic</a:t>
            </a:r>
            <a:r>
              <a:rPr lang="en-US" sz="2800" dirty="0" smtClean="0">
                <a:latin typeface="Times New Roman" pitchFamily="18" charset="0"/>
                <a:cs typeface="Times New Roman" pitchFamily="18" charset="0"/>
              </a:rPr>
              <a:t> Framework for Verifiable Code Translation</a:t>
            </a:r>
            <a:endParaRPr lang="en-IN" sz="2800" dirty="0" smtClean="0">
              <a:latin typeface="Times New Roman" pitchFamily="18" charset="0"/>
              <a:cs typeface="Times New Roman" pitchFamily="18" charset="0"/>
            </a:endParaRPr>
          </a:p>
        </p:txBody>
      </p:sp>
      <p:sp>
        <p:nvSpPr>
          <p:cNvPr id="7" name="TextBox 6"/>
          <p:cNvSpPr txBox="1"/>
          <p:nvPr/>
        </p:nvSpPr>
        <p:spPr>
          <a:xfrm>
            <a:off x="4864925" y="2751597"/>
            <a:ext cx="2531462" cy="369332"/>
          </a:xfrm>
          <a:prstGeom prst="rect">
            <a:avLst/>
          </a:prstGeom>
          <a:noFill/>
        </p:spPr>
        <p:txBody>
          <a:bodyPr wrap="none" rtlCol="0">
            <a:spAutoFit/>
          </a:bodyPr>
          <a:lstStyle/>
          <a:p>
            <a:r>
              <a:rPr lang="en-IN" dirty="0" smtClean="0">
                <a:solidFill>
                  <a:srgbClr val="E77E69"/>
                </a:solidFill>
                <a:latin typeface="Times New Roman" panose="02020603050405020304" pitchFamily="18" charset="0"/>
                <a:cs typeface="Times New Roman" panose="02020603050405020304" pitchFamily="18" charset="0"/>
              </a:rPr>
              <a:t>Major Project Review - 1</a:t>
            </a:r>
            <a:endParaRPr lang="en-IN" dirty="0">
              <a:solidFill>
                <a:srgbClr val="E77E69"/>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4989861" y="3113971"/>
            <a:ext cx="2242986" cy="369332"/>
          </a:xfrm>
          <a:prstGeom prst="rect">
            <a:avLst/>
          </a:prstGeom>
          <a:noFill/>
        </p:spPr>
        <p:txBody>
          <a:bodyPr wrap="none" rtlCol="0">
            <a:spAutoFit/>
          </a:bodyPr>
          <a:lstStyle/>
          <a:p>
            <a:pPr algn="ctr"/>
            <a:r>
              <a:rPr lang="en-IN" dirty="0" smtClean="0">
                <a:latin typeface="Times New Roman" panose="02020603050405020304" pitchFamily="18" charset="0"/>
                <a:cs typeface="Times New Roman" panose="02020603050405020304" pitchFamily="18" charset="0"/>
              </a:rPr>
              <a:t>Batch ID: AIML-B14 </a:t>
            </a:r>
            <a:endParaRPr lang="en-IN"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747783" y="4841655"/>
            <a:ext cx="3274679" cy="646331"/>
          </a:xfrm>
          <a:prstGeom prst="rect">
            <a:avLst/>
          </a:prstGeom>
          <a:noFill/>
        </p:spPr>
        <p:txBody>
          <a:bodyPr wrap="none" rtlCol="0">
            <a:spAutoFit/>
          </a:bodyPr>
          <a:lstStyle/>
          <a:p>
            <a:pPr algn="ctr"/>
            <a:r>
              <a:rPr lang="en-US" dirty="0" smtClean="0">
                <a:latin typeface="Times New Roman" pitchFamily="18" charset="0"/>
                <a:cs typeface="Times New Roman" pitchFamily="18" charset="0"/>
              </a:rPr>
              <a:t>Dr. D </a:t>
            </a:r>
            <a:r>
              <a:rPr lang="en-US" dirty="0" err="1" smtClean="0">
                <a:latin typeface="Times New Roman" pitchFamily="18" charset="0"/>
                <a:cs typeface="Times New Roman" pitchFamily="18" charset="0"/>
              </a:rPr>
              <a:t>Murali</a:t>
            </a:r>
            <a:r>
              <a:rPr lang="en-US" dirty="0" smtClean="0">
                <a:latin typeface="Times New Roman" pitchFamily="18" charset="0"/>
                <a:cs typeface="Times New Roman" pitchFamily="18" charset="0"/>
              </a:rPr>
              <a:t> Krishna Reddy</a:t>
            </a:r>
            <a:endParaRPr lang="en-IN" dirty="0" smtClean="0">
              <a:latin typeface="Times New Roman" pitchFamily="18" charset="0"/>
              <a:cs typeface="Times New Roman" pitchFamily="18" charset="0"/>
            </a:endParaRPr>
          </a:p>
          <a:p>
            <a:pPr algn="ctr"/>
            <a:r>
              <a:rPr lang="en-IN" dirty="0" smtClean="0">
                <a:latin typeface="Times New Roman" pitchFamily="18" charset="0"/>
                <a:cs typeface="Times New Roman" pitchFamily="18" charset="0"/>
              </a:rPr>
              <a:t>Assistant Professor</a:t>
            </a:r>
            <a:r>
              <a:rPr lang="en-IN" dirty="0" smtClean="0">
                <a:latin typeface="Times New Roman" pitchFamily="18" charset="0"/>
                <a:cs typeface="Times New Roman" pitchFamily="18" charset="0"/>
              </a:rPr>
              <a:t>, CSM, VVIT</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7636329" y="4315108"/>
            <a:ext cx="2608535" cy="400110"/>
          </a:xfrm>
          <a:prstGeom prst="rect">
            <a:avLst/>
          </a:prstGeom>
          <a:noFill/>
        </p:spPr>
        <p:txBody>
          <a:bodyPr wrap="none" rtlCol="0">
            <a:spAutoFit/>
          </a:bodyPr>
          <a:lstStyle/>
          <a:p>
            <a:pPr algn="ctr"/>
            <a:r>
              <a:rPr lang="en-IN" sz="2000" i="1" dirty="0" smtClean="0">
                <a:solidFill>
                  <a:srgbClr val="E77E69"/>
                </a:solidFill>
                <a:latin typeface="Times New Roman" panose="02020603050405020304" pitchFamily="18" charset="0"/>
                <a:cs typeface="Times New Roman" panose="02020603050405020304" pitchFamily="18" charset="0"/>
              </a:rPr>
              <a:t>Project Batch Members</a:t>
            </a:r>
          </a:p>
        </p:txBody>
      </p:sp>
      <p:sp>
        <p:nvSpPr>
          <p:cNvPr id="12" name="TextBox 11"/>
          <p:cNvSpPr txBox="1"/>
          <p:nvPr/>
        </p:nvSpPr>
        <p:spPr>
          <a:xfrm>
            <a:off x="6188823" y="4820799"/>
            <a:ext cx="3406590" cy="923330"/>
          </a:xfrm>
          <a:prstGeom prst="rect">
            <a:avLst/>
          </a:prstGeom>
          <a:noFill/>
        </p:spPr>
        <p:txBody>
          <a:bodyPr wrap="square" rtlCol="0">
            <a:spAutoFit/>
          </a:bodyPr>
          <a:lstStyle/>
          <a:p>
            <a:r>
              <a:rPr lang="en-US" dirty="0" smtClean="0"/>
              <a:t>23BQ1A6189 -Keerthi </a:t>
            </a:r>
            <a:br>
              <a:rPr lang="en-US" dirty="0" smtClean="0"/>
            </a:br>
            <a:r>
              <a:rPr lang="en-US" dirty="0" smtClean="0"/>
              <a:t>23BQ1A6186 - Ajay </a:t>
            </a:r>
            <a:br>
              <a:rPr lang="en-US" dirty="0" smtClean="0"/>
            </a:br>
            <a:endParaRPr lang="en-IN" dirty="0"/>
          </a:p>
        </p:txBody>
      </p:sp>
      <p:sp>
        <p:nvSpPr>
          <p:cNvPr id="14" name="TextBox 13"/>
          <p:cNvSpPr txBox="1"/>
          <p:nvPr/>
        </p:nvSpPr>
        <p:spPr>
          <a:xfrm>
            <a:off x="2556497" y="4315108"/>
            <a:ext cx="1619482" cy="400110"/>
          </a:xfrm>
          <a:prstGeom prst="rect">
            <a:avLst/>
          </a:prstGeom>
          <a:noFill/>
        </p:spPr>
        <p:txBody>
          <a:bodyPr wrap="none" rtlCol="0">
            <a:spAutoFit/>
          </a:bodyPr>
          <a:lstStyle/>
          <a:p>
            <a:pPr algn="ctr"/>
            <a:r>
              <a:rPr lang="en-IN" sz="2000" i="1" dirty="0" smtClean="0">
                <a:solidFill>
                  <a:srgbClr val="E77E69"/>
                </a:solidFill>
                <a:latin typeface="Times New Roman" panose="02020603050405020304" pitchFamily="18" charset="0"/>
                <a:cs typeface="Times New Roman" panose="02020603050405020304" pitchFamily="18" charset="0"/>
              </a:rPr>
              <a:t>Project Guide</a:t>
            </a:r>
          </a:p>
        </p:txBody>
      </p:sp>
      <p:sp>
        <p:nvSpPr>
          <p:cNvPr id="15"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rgbClr val="E77E32"/>
                </a:solidFill>
              </a:rPr>
              <a:t>Dept</a:t>
            </a:r>
            <a:r>
              <a:rPr lang="en-IN" dirty="0">
                <a:solidFill>
                  <a:srgbClr val="E77E32"/>
                </a:solidFill>
              </a:rPr>
              <a:t>. </a:t>
            </a:r>
            <a:r>
              <a:rPr lang="en-IN" dirty="0" smtClean="0">
                <a:solidFill>
                  <a:srgbClr val="E77E32"/>
                </a:solidFill>
              </a:rPr>
              <a:t>CSM @ VVIT</a:t>
            </a:r>
            <a:endParaRPr lang="en-IN" dirty="0">
              <a:solidFill>
                <a:srgbClr val="E77E32"/>
              </a:solidFill>
            </a:endParaRPr>
          </a:p>
        </p:txBody>
      </p:sp>
      <p:sp>
        <p:nvSpPr>
          <p:cNvPr id="16" name="Rectangle 15"/>
          <p:cNvSpPr/>
          <p:nvPr/>
        </p:nvSpPr>
        <p:spPr>
          <a:xfrm>
            <a:off x="9483523" y="4849792"/>
            <a:ext cx="6096000" cy="646331"/>
          </a:xfrm>
          <a:prstGeom prst="rect">
            <a:avLst/>
          </a:prstGeom>
        </p:spPr>
        <p:txBody>
          <a:bodyPr wrap="square">
            <a:spAutoFit/>
          </a:bodyPr>
          <a:lstStyle/>
          <a:p>
            <a:r>
              <a:rPr lang="en-US" dirty="0" smtClean="0"/>
              <a:t>24BQ5A6108 -</a:t>
            </a:r>
            <a:r>
              <a:rPr lang="en-US" dirty="0" err="1" smtClean="0"/>
              <a:t>Satya</a:t>
            </a:r>
            <a:r>
              <a:rPr lang="en-US" dirty="0" smtClean="0"/>
              <a:t> </a:t>
            </a:r>
            <a:br>
              <a:rPr lang="en-US" dirty="0" smtClean="0"/>
            </a:br>
            <a:r>
              <a:rPr lang="en-US" dirty="0" smtClean="0"/>
              <a:t>24BQ5A6129 - </a:t>
            </a:r>
            <a:r>
              <a:rPr lang="en-US" dirty="0" err="1" smtClean="0"/>
              <a:t>Vamsi</a:t>
            </a:r>
            <a:endParaRPr lang="en-US" dirty="0"/>
          </a:p>
        </p:txBody>
      </p:sp>
    </p:spTree>
    <p:extLst>
      <p:ext uri="{BB962C8B-B14F-4D97-AF65-F5344CB8AC3E}">
        <p14:creationId xmlns="" xmlns:p14="http://schemas.microsoft.com/office/powerpoint/2010/main" val="501989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0" y="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2"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2</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271859" y="1085507"/>
            <a:ext cx="11920141"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Problem statement</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7789762" y="31393"/>
            <a:ext cx="431374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r>
              <a:rPr lang="en-US" sz="1200" dirty="0" smtClean="0">
                <a:latin typeface="Times New Roman" pitchFamily="18" charset="0"/>
                <a:cs typeface="Times New Roman" pitchFamily="18" charset="0"/>
              </a:rPr>
              <a:t>Dr. D </a:t>
            </a:r>
            <a:r>
              <a:rPr lang="en-US" sz="1200" dirty="0" err="1" smtClean="0">
                <a:latin typeface="Times New Roman" pitchFamily="18" charset="0"/>
                <a:cs typeface="Times New Roman" pitchFamily="18" charset="0"/>
              </a:rPr>
              <a:t>Murali</a:t>
            </a:r>
            <a:r>
              <a:rPr lang="en-US" sz="1200" dirty="0" smtClean="0">
                <a:latin typeface="Times New Roman" pitchFamily="18" charset="0"/>
                <a:cs typeface="Times New Roman" pitchFamily="18" charset="0"/>
              </a:rPr>
              <a:t> Krishna Reddy</a:t>
            </a:r>
            <a:endParaRPr lang="en-IN" sz="1200" dirty="0" smtClean="0">
              <a:latin typeface="Times New Roman" panose="02020603050405020304" pitchFamily="18" charset="0"/>
              <a:cs typeface="Times New Roman" panose="02020603050405020304" pitchFamily="18" charset="0"/>
            </a:endParaRPr>
          </a:p>
          <a:p>
            <a:r>
              <a:rPr lang="en-IN" sz="1200" dirty="0" smtClean="0">
                <a:latin typeface="Times New Roman" panose="02020603050405020304" pitchFamily="18" charset="0"/>
                <a:cs typeface="Times New Roman" panose="02020603050405020304" pitchFamily="18" charset="0"/>
              </a:rPr>
              <a:t>Batch ID:AIML-B14</a:t>
            </a:r>
          </a:p>
          <a:p>
            <a:r>
              <a:rPr lang="en-IN" sz="1200" dirty="0" err="1" smtClean="0">
                <a:latin typeface="Times New Roman" panose="02020603050405020304" pitchFamily="18" charset="0"/>
                <a:cs typeface="Times New Roman" panose="02020603050405020304" pitchFamily="18" charset="0"/>
              </a:rPr>
              <a:t>Regd</a:t>
            </a:r>
            <a:r>
              <a:rPr lang="en-IN" sz="1200" dirty="0" smtClean="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No#1 (TL),  </a:t>
            </a:r>
            <a:r>
              <a:rPr lang="en-IN" sz="1200" dirty="0" smtClean="0">
                <a:latin typeface="Times New Roman" panose="02020603050405020304" pitchFamily="18" charset="0"/>
                <a:cs typeface="Times New Roman" panose="02020603050405020304" pitchFamily="18" charset="0"/>
              </a:rPr>
              <a:t>23BQ1A6189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a:t>
            </a:r>
            <a:r>
              <a:rPr lang="en-IN" sz="1200" dirty="0" smtClean="0">
                <a:latin typeface="Times New Roman" panose="02020603050405020304" pitchFamily="18" charset="0"/>
                <a:cs typeface="Times New Roman" panose="02020603050405020304" pitchFamily="18" charset="0"/>
              </a:rPr>
              <a:t>No#2,23BQ1A6186</a:t>
            </a:r>
            <a:endParaRPr lang="en-IN" sz="1200" dirty="0">
              <a:latin typeface="Times New Roman" panose="02020603050405020304" pitchFamily="18" charset="0"/>
              <a:cs typeface="Times New Roman" panose="02020603050405020304" pitchFamily="18" charset="0"/>
            </a:endParaRP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           </a:t>
            </a:r>
            <a:r>
              <a:rPr lang="en-IN" sz="1200" dirty="0" smtClean="0">
                <a:latin typeface="Times New Roman" panose="02020603050405020304" pitchFamily="18" charset="0"/>
                <a:cs typeface="Times New Roman" panose="02020603050405020304" pitchFamily="18" charset="0"/>
              </a:rPr>
              <a:t>24BQ5A6129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a:t>
            </a:r>
            <a:r>
              <a:rPr lang="en-IN" sz="1200" dirty="0" smtClean="0">
                <a:latin typeface="Times New Roman" panose="02020603050405020304" pitchFamily="18" charset="0"/>
                <a:cs typeface="Times New Roman" panose="02020603050405020304" pitchFamily="18" charset="0"/>
              </a:rPr>
              <a:t>No#4,24BQ5A6108</a:t>
            </a:r>
            <a:endParaRPr lang="en-IN"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369332"/>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a:latin typeface="Times New Roman" panose="02020603050405020304" pitchFamily="18" charset="0"/>
              <a:cs typeface="Times New Roman" panose="02020603050405020304" pitchFamily="18" charset="0"/>
            </a:endParaRPr>
          </a:p>
        </p:txBody>
      </p:sp>
      <p:sp>
        <p:nvSpPr>
          <p:cNvPr id="16" name="Rectangle 15"/>
          <p:cNvSpPr/>
          <p:nvPr/>
        </p:nvSpPr>
        <p:spPr>
          <a:xfrm>
            <a:off x="694480" y="1794074"/>
            <a:ext cx="10544538" cy="3693319"/>
          </a:xfrm>
          <a:prstGeom prst="rect">
            <a:avLst/>
          </a:prstGeom>
        </p:spPr>
        <p:txBody>
          <a:bodyPr wrap="square">
            <a:spAutoFit/>
          </a:bodyPr>
          <a:lstStyle/>
          <a:p>
            <a:pPr algn="just"/>
            <a:r>
              <a:rPr lang="en-US" dirty="0" smtClean="0">
                <a:latin typeface="Times New Roman" pitchFamily="18" charset="0"/>
                <a:cs typeface="Times New Roman" pitchFamily="18" charset="0"/>
              </a:rPr>
              <a:t>Large Language Models (LLMs) have made code translation between programming languages easier, but </a:t>
            </a:r>
            <a:r>
              <a:rPr lang="en-US" b="1" dirty="0" smtClean="0">
                <a:latin typeface="Times New Roman" pitchFamily="18" charset="0"/>
                <a:cs typeface="Times New Roman" pitchFamily="18" charset="0"/>
              </a:rPr>
              <a:t>one-shot translation cannot consistently produce correct and </a:t>
            </a:r>
            <a:r>
              <a:rPr lang="en-US" b="1" dirty="0" err="1" smtClean="0">
                <a:latin typeface="Times New Roman" pitchFamily="18" charset="0"/>
                <a:cs typeface="Times New Roman" pitchFamily="18" charset="0"/>
              </a:rPr>
              <a:t>compilable</a:t>
            </a:r>
            <a:r>
              <a:rPr lang="en-US" b="1" dirty="0" smtClean="0">
                <a:latin typeface="Times New Roman" pitchFamily="18" charset="0"/>
                <a:cs typeface="Times New Roman" pitchFamily="18" charset="0"/>
              </a:rPr>
              <a:t> target code</a:t>
            </a:r>
            <a:r>
              <a:rPr lang="en-US" dirty="0" smtClean="0">
                <a:latin typeface="Times New Roman" pitchFamily="18" charset="0"/>
                <a:cs typeface="Times New Roman" pitchFamily="18" charset="0"/>
              </a:rPr>
              <a:t>. The generated program may contain syntax errors, compilation errors, or logical errors, particularly when translating into languages with strict compilation and memory-safety requirements such as </a:t>
            </a:r>
            <a:r>
              <a:rPr lang="en-US" b="1" dirty="0" smtClean="0">
                <a:latin typeface="Times New Roman" pitchFamily="18" charset="0"/>
                <a:cs typeface="Times New Roman" pitchFamily="18" charset="0"/>
              </a:rPr>
              <a:t>Rust</a:t>
            </a:r>
            <a:r>
              <a:rPr lang="en-US" dirty="0" smtClean="0">
                <a:latin typeface="Times New Roman" pitchFamily="18" charset="0"/>
                <a:cs typeface="Times New Roman" pitchFamily="18" charset="0"/>
              </a:rPr>
              <a:t>.</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main challenge is that the LLM generates the translated code without actually executing and verifying it. As a result, errors in the generated code may remain undetected. In addition, automatically generated test cases can introduce </a:t>
            </a:r>
            <a:r>
              <a:rPr lang="en-US" b="1" dirty="0" smtClean="0">
                <a:latin typeface="Times New Roman" pitchFamily="18" charset="0"/>
                <a:cs typeface="Times New Roman" pitchFamily="18" charset="0"/>
              </a:rPr>
              <a:t>test translation bias</a:t>
            </a:r>
            <a:r>
              <a:rPr lang="en-US" dirty="0" smtClean="0">
                <a:latin typeface="Times New Roman" pitchFamily="18" charset="0"/>
                <a:cs typeface="Times New Roman" pitchFamily="18" charset="0"/>
              </a:rPr>
              <a:t>, where the tests fail to identify errors present in the translated program.</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Hence, there is a need for an </a:t>
            </a:r>
            <a:r>
              <a:rPr lang="en-US" b="1" dirty="0" smtClean="0">
                <a:latin typeface="Times New Roman" pitchFamily="18" charset="0"/>
                <a:cs typeface="Times New Roman" pitchFamily="18" charset="0"/>
              </a:rPr>
              <a:t>automated closed-loop approach</a:t>
            </a:r>
            <a:r>
              <a:rPr lang="en-US" dirty="0" smtClean="0">
                <a:latin typeface="Times New Roman" pitchFamily="18" charset="0"/>
                <a:cs typeface="Times New Roman" pitchFamily="18" charset="0"/>
              </a:rPr>
              <a:t> that does not stop after the initial translation, but instead </a:t>
            </a:r>
            <a:r>
              <a:rPr lang="en-US" b="1" dirty="0" smtClean="0">
                <a:latin typeface="Times New Roman" pitchFamily="18" charset="0"/>
                <a:cs typeface="Times New Roman" pitchFamily="18" charset="0"/>
              </a:rPr>
              <a:t>translates, tests, compiles, executes, identifies errors, and iteratively repairs the code using feedback</a:t>
            </a:r>
            <a:r>
              <a:rPr lang="en-US" dirty="0" smtClean="0">
                <a:latin typeface="Times New Roman" pitchFamily="18" charset="0"/>
                <a:cs typeface="Times New Roman" pitchFamily="18" charset="0"/>
              </a:rPr>
              <a:t>. The proposed project addresses this problem through a multi-agent framework with sandboxed execution and differential testing to improve the </a:t>
            </a:r>
            <a:r>
              <a:rPr lang="en-US" b="1" dirty="0" smtClean="0">
                <a:latin typeface="Times New Roman" pitchFamily="18" charset="0"/>
                <a:cs typeface="Times New Roman" pitchFamily="18" charset="0"/>
              </a:rPr>
              <a:t>reliability and verifiability of code translation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126644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3</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333772" y="31393"/>
            <a:ext cx="4027990"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369332"/>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 Proposed Method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523220"/>
          </a:xfrm>
          <a:prstGeom prst="rect">
            <a:avLst/>
          </a:prstGeom>
        </p:spPr>
        <p:txBody>
          <a:bodyPr wrap="square">
            <a:spAutoFit/>
          </a:bodyPr>
          <a:lstStyle/>
          <a:p>
            <a:r>
              <a:rPr lang="en-US" sz="1400" b="1" dirty="0" smtClean="0"/>
              <a:t>Ref 01 –</a:t>
            </a:r>
            <a:r>
              <a:rPr lang="en-US" sz="1400" dirty="0" err="1" smtClean="0"/>
              <a:t>CoTran</a:t>
            </a:r>
            <a:r>
              <a:rPr lang="en-US" sz="1400" dirty="0" smtClean="0"/>
              <a:t>  LLM-based Code Translator using RL with Compiler + Symbolic Execution Feedback</a:t>
            </a:r>
            <a:br>
              <a:rPr lang="en-US" sz="1400" dirty="0" smtClean="0"/>
            </a:br>
            <a:r>
              <a:rPr lang="en-US" sz="1400" dirty="0" err="1" smtClean="0"/>
              <a:t>Prithwish</a:t>
            </a:r>
            <a:r>
              <a:rPr lang="en-US" sz="1400" dirty="0" smtClean="0"/>
              <a:t> Jana,2024</a:t>
            </a:r>
            <a:endParaRPr lang="en-IN" sz="1400" dirty="0"/>
          </a:p>
        </p:txBody>
      </p:sp>
      <p:sp>
        <p:nvSpPr>
          <p:cNvPr id="18" name="Rectangle 17"/>
          <p:cNvSpPr/>
          <p:nvPr/>
        </p:nvSpPr>
        <p:spPr>
          <a:xfrm>
            <a:off x="219918" y="1606066"/>
            <a:ext cx="11574685" cy="5078313"/>
          </a:xfrm>
          <a:prstGeom prst="rect">
            <a:avLst/>
          </a:prstGeom>
        </p:spPr>
        <p:txBody>
          <a:bodyPr wrap="square">
            <a:spAutoFit/>
          </a:bodyPr>
          <a:lstStyle/>
          <a:p>
            <a:pPr algn="just"/>
            <a:r>
              <a:rPr lang="en-US" dirty="0" err="1" smtClean="0"/>
              <a:t>CoTran</a:t>
            </a:r>
            <a:r>
              <a:rPr lang="en-US" dirty="0" smtClean="0"/>
              <a:t> proposes an </a:t>
            </a:r>
            <a:r>
              <a:rPr lang="en-US" b="1" dirty="0" smtClean="0"/>
              <a:t>LLM-based code translation framework</a:t>
            </a:r>
            <a:r>
              <a:rPr lang="en-US" dirty="0" smtClean="0"/>
              <a:t> that fine-tunes </a:t>
            </a:r>
            <a:r>
              <a:rPr lang="en-US" b="1" dirty="0" smtClean="0"/>
              <a:t>CodeT5 using Reinforcement Learning (PPO)</a:t>
            </a:r>
            <a:r>
              <a:rPr lang="en-US" dirty="0" smtClean="0"/>
              <a:t> rather than relying on prompting. </a:t>
            </a:r>
          </a:p>
          <a:p>
            <a:pPr algn="just"/>
            <a:r>
              <a:rPr lang="en-US" dirty="0" smtClean="0"/>
              <a:t>The method uses two types of feedback to improve translation quality:</a:t>
            </a:r>
          </a:p>
          <a:p>
            <a:pPr algn="just"/>
            <a:endParaRPr lang="en-US" dirty="0" smtClean="0"/>
          </a:p>
          <a:p>
            <a:pPr algn="just"/>
            <a:r>
              <a:rPr lang="en-US" b="1" dirty="0" smtClean="0"/>
              <a:t>Compiler Feedback (CF):</a:t>
            </a:r>
            <a:r>
              <a:rPr lang="en-US" dirty="0" smtClean="0"/>
              <a:t> Provides a continuous reward based on how close the generated code is to compiling, along with a length penalty to prevent trivial outputs. </a:t>
            </a:r>
          </a:p>
          <a:p>
            <a:pPr algn="just"/>
            <a:endParaRPr lang="en-US" dirty="0" smtClean="0"/>
          </a:p>
          <a:p>
            <a:pPr algn="just"/>
            <a:r>
              <a:rPr lang="en-US" b="1" dirty="0" smtClean="0"/>
              <a:t>Symbolic Execution Feedback (SF):</a:t>
            </a:r>
            <a:r>
              <a:rPr lang="en-US" dirty="0" smtClean="0"/>
              <a:t> Automatically generates test cases from the source code and checks whether the translated code preserves the original program’s functionality. </a:t>
            </a:r>
          </a:p>
          <a:p>
            <a:pPr algn="just"/>
            <a:endParaRPr lang="en-US" dirty="0" smtClean="0"/>
          </a:p>
          <a:p>
            <a:pPr algn="just"/>
            <a:r>
              <a:rPr lang="en-US" b="1" dirty="0" smtClean="0"/>
              <a:t>RL + SFT Training:</a:t>
            </a:r>
            <a:r>
              <a:rPr lang="en-US" dirty="0" smtClean="0"/>
              <a:t> Alternates between </a:t>
            </a:r>
            <a:r>
              <a:rPr lang="en-US" b="1" dirty="0" smtClean="0"/>
              <a:t>PPO-based reinforcement learning and supervised fine-tuning</a:t>
            </a:r>
            <a:r>
              <a:rPr lang="en-US" dirty="0" smtClean="0"/>
              <a:t> to continuously improve the model. </a:t>
            </a:r>
          </a:p>
          <a:p>
            <a:pPr algn="just"/>
            <a:endParaRPr lang="en-US" dirty="0" smtClean="0"/>
          </a:p>
          <a:p>
            <a:pPr algn="just"/>
            <a:r>
              <a:rPr lang="en-US" b="1" dirty="0" err="1" smtClean="0"/>
              <a:t>LoRA</a:t>
            </a:r>
            <a:r>
              <a:rPr lang="en-US" b="1" dirty="0" smtClean="0"/>
              <a:t>:</a:t>
            </a:r>
            <a:r>
              <a:rPr lang="en-US" dirty="0" smtClean="0"/>
              <a:t> Used for parameter-efficient fine-tuning and to reduce computational cost. </a:t>
            </a:r>
          </a:p>
          <a:p>
            <a:pPr algn="just"/>
            <a:endParaRPr lang="en-US" dirty="0" smtClean="0"/>
          </a:p>
          <a:p>
            <a:pPr algn="just"/>
            <a:r>
              <a:rPr lang="en-US" b="1" dirty="0" smtClean="0"/>
              <a:t>Keyword </a:t>
            </a:r>
            <a:r>
              <a:rPr lang="en-US" b="1" dirty="0" err="1" smtClean="0"/>
              <a:t>Tokenizer</a:t>
            </a:r>
            <a:r>
              <a:rPr lang="en-US" b="1" dirty="0" smtClean="0"/>
              <a:t>:</a:t>
            </a:r>
            <a:r>
              <a:rPr lang="en-US" dirty="0" smtClean="0"/>
              <a:t> Represents programming-language keywords and operators as individual tokens to improve code translation.</a:t>
            </a:r>
          </a:p>
          <a:p>
            <a:pPr algn="just"/>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282606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4</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055981" y="0"/>
            <a:ext cx="6539696" cy="1015663"/>
          </a:xfrm>
          <a:prstGeom prst="rect">
            <a:avLst/>
          </a:prstGeom>
          <a:noFill/>
        </p:spPr>
        <p:txBody>
          <a:bodyPr wrap="square" rtlCol="0">
            <a:spAutoFit/>
          </a:bodyPr>
          <a:lstStyle/>
          <a:p>
            <a:r>
              <a:rPr lang="en-IN" sz="1200" dirty="0" smtClean="0">
                <a:latin typeface="Times New Roman" panose="02020603050405020304" pitchFamily="18" charset="0"/>
                <a:cs typeface="Times New Roman" panose="02020603050405020304" pitchFamily="18" charset="0"/>
              </a:rPr>
              <a:t>Guide: </a:t>
            </a:r>
            <a:r>
              <a:rPr lang="en-US" sz="1200" dirty="0" smtClean="0">
                <a:latin typeface="Times New Roman" pitchFamily="18" charset="0"/>
                <a:cs typeface="Times New Roman" pitchFamily="18" charset="0"/>
              </a:rPr>
              <a:t>Dr. D </a:t>
            </a:r>
            <a:r>
              <a:rPr lang="en-US" sz="1200" dirty="0" err="1" smtClean="0">
                <a:latin typeface="Times New Roman" pitchFamily="18" charset="0"/>
                <a:cs typeface="Times New Roman" pitchFamily="18" charset="0"/>
              </a:rPr>
              <a:t>Murali</a:t>
            </a:r>
            <a:r>
              <a:rPr lang="en-US" sz="1200" dirty="0" smtClean="0">
                <a:latin typeface="Times New Roman" pitchFamily="18" charset="0"/>
                <a:cs typeface="Times New Roman" pitchFamily="18" charset="0"/>
              </a:rPr>
              <a:t> Krishna Reddy</a:t>
            </a:r>
            <a:endParaRPr lang="en-IN" sz="1200" dirty="0" smtClean="0">
              <a:latin typeface="Times New Roman" panose="02020603050405020304" pitchFamily="18" charset="0"/>
              <a:cs typeface="Times New Roman" panose="02020603050405020304" pitchFamily="18" charset="0"/>
            </a:endParaRPr>
          </a:p>
          <a:p>
            <a:r>
              <a:rPr lang="en-IN" sz="1200" dirty="0" smtClean="0">
                <a:latin typeface="Times New Roman" panose="02020603050405020304" pitchFamily="18" charset="0"/>
                <a:cs typeface="Times New Roman" panose="02020603050405020304" pitchFamily="18" charset="0"/>
              </a:rPr>
              <a:t>Batch ID:AIML-B14</a:t>
            </a:r>
          </a:p>
          <a:p>
            <a:r>
              <a:rPr lang="en-IN" sz="1200" dirty="0" err="1" smtClean="0">
                <a:latin typeface="Times New Roman" panose="02020603050405020304" pitchFamily="18" charset="0"/>
                <a:cs typeface="Times New Roman" panose="02020603050405020304" pitchFamily="18" charset="0"/>
              </a:rPr>
              <a:t>Regd</a:t>
            </a:r>
            <a:r>
              <a:rPr lang="en-IN" sz="1200" dirty="0" smtClean="0">
                <a:latin typeface="Times New Roman" panose="02020603050405020304" pitchFamily="18" charset="0"/>
                <a:cs typeface="Times New Roman" panose="02020603050405020304" pitchFamily="18" charset="0"/>
              </a:rPr>
              <a:t> No#1 (TL),  23BQ1A6189          </a:t>
            </a:r>
            <a:r>
              <a:rPr lang="en-IN" sz="1200" dirty="0" err="1" smtClean="0">
                <a:latin typeface="Times New Roman" panose="02020603050405020304" pitchFamily="18" charset="0"/>
                <a:cs typeface="Times New Roman" panose="02020603050405020304" pitchFamily="18" charset="0"/>
              </a:rPr>
              <a:t>Regd</a:t>
            </a:r>
            <a:r>
              <a:rPr lang="en-IN" sz="1200" dirty="0" smtClean="0">
                <a:latin typeface="Times New Roman" panose="02020603050405020304" pitchFamily="18" charset="0"/>
                <a:cs typeface="Times New Roman" panose="02020603050405020304" pitchFamily="18" charset="0"/>
              </a:rPr>
              <a:t> No#2,23BQ1A6186</a:t>
            </a:r>
          </a:p>
          <a:p>
            <a:r>
              <a:rPr lang="en-IN" sz="1200" dirty="0" err="1" smtClean="0">
                <a:latin typeface="Times New Roman" panose="02020603050405020304" pitchFamily="18" charset="0"/>
                <a:cs typeface="Times New Roman" panose="02020603050405020304" pitchFamily="18" charset="0"/>
              </a:rPr>
              <a:t>Regd</a:t>
            </a:r>
            <a:r>
              <a:rPr lang="en-IN" sz="1200" dirty="0" smtClean="0">
                <a:latin typeface="Times New Roman" panose="02020603050405020304" pitchFamily="18" charset="0"/>
                <a:cs typeface="Times New Roman" panose="02020603050405020304" pitchFamily="18" charset="0"/>
              </a:rPr>
              <a:t> No#3,           24BQ5A6129          </a:t>
            </a:r>
            <a:r>
              <a:rPr lang="en-IN" sz="1200" dirty="0" err="1" smtClean="0">
                <a:latin typeface="Times New Roman" panose="02020603050405020304" pitchFamily="18" charset="0"/>
                <a:cs typeface="Times New Roman" panose="02020603050405020304" pitchFamily="18" charset="0"/>
              </a:rPr>
              <a:t>Regd</a:t>
            </a:r>
            <a:r>
              <a:rPr lang="en-IN" sz="1200" dirty="0" smtClean="0">
                <a:latin typeface="Times New Roman" panose="02020603050405020304" pitchFamily="18" charset="0"/>
                <a:cs typeface="Times New Roman" panose="02020603050405020304" pitchFamily="18" charset="0"/>
              </a:rPr>
              <a:t> No#4,24BQ5A6108</a:t>
            </a:r>
            <a:endParaRPr lang="en-IN" sz="1200" dirty="0" smtClean="0"/>
          </a:p>
          <a:p>
            <a:endParaRPr lang="en-IN" sz="12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smtClean="0">
                <a:latin typeface="Times New Roman" panose="02020603050405020304" pitchFamily="18" charset="0"/>
                <a:cs typeface="Times New Roman" panose="02020603050405020304" pitchFamily="18" charset="0"/>
              </a:rPr>
              <a:t>| Data &amp; Setup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01 –</a:t>
            </a:r>
            <a:r>
              <a:rPr lang="en-US" sz="1400" dirty="0" err="1" smtClean="0"/>
              <a:t>CoTran</a:t>
            </a:r>
            <a:r>
              <a:rPr lang="en-US" sz="1400" dirty="0" smtClean="0"/>
              <a:t>  LLM-based Code Translator using RL with Compiler + Symbolic Execution Feedback</a:t>
            </a:r>
            <a:br>
              <a:rPr lang="en-US" sz="1400" dirty="0" smtClean="0"/>
            </a:br>
            <a:r>
              <a:rPr lang="en-US" sz="1400" dirty="0" err="1" smtClean="0"/>
              <a:t>Prithwish</a:t>
            </a:r>
            <a:r>
              <a:rPr lang="en-US" sz="1400" dirty="0" smtClean="0"/>
              <a:t> Jana,2024</a:t>
            </a:r>
            <a:endParaRPr lang="en-IN" sz="1400" dirty="0" smtClean="0"/>
          </a:p>
          <a:p>
            <a:endParaRPr lang="en-IN" sz="1400" dirty="0"/>
          </a:p>
        </p:txBody>
      </p:sp>
      <p:sp>
        <p:nvSpPr>
          <p:cNvPr id="32771" name="Rectangle 3"/>
          <p:cNvSpPr>
            <a:spLocks noChangeArrowheads="1"/>
          </p:cNvSpPr>
          <p:nvPr/>
        </p:nvSpPr>
        <p:spPr bwMode="auto">
          <a:xfrm>
            <a:off x="405115" y="1805651"/>
            <a:ext cx="9954227" cy="36933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buFont typeface="Arial" pitchFamily="34" charset="0"/>
              <a:buChar char="•"/>
            </a:pPr>
            <a:r>
              <a:rPr lang="en-US" dirty="0" smtClean="0"/>
              <a:t>Dataset: AVATAR-TC with 57,000+ Java–Python code pairs. </a:t>
            </a:r>
          </a:p>
          <a:p>
            <a:pPr algn="just"/>
            <a:endParaRPr lang="en-US" dirty="0" smtClean="0"/>
          </a:p>
          <a:p>
            <a:pPr algn="just">
              <a:buFont typeface="Arial" pitchFamily="34" charset="0"/>
              <a:buChar char="•"/>
            </a:pPr>
            <a:r>
              <a:rPr lang="en-US" dirty="0" smtClean="0"/>
              <a:t>The original AVATAR data was manually checked and incorrect code pairs were fixed. Human-written test cases were added to check whether the translated code works correctly.</a:t>
            </a:r>
          </a:p>
          <a:p>
            <a:pPr algn="just"/>
            <a:r>
              <a:rPr lang="en-US" dirty="0" smtClean="0"/>
              <a:t> </a:t>
            </a:r>
          </a:p>
          <a:p>
            <a:pPr algn="just">
              <a:buFont typeface="Arial" pitchFamily="34" charset="0"/>
              <a:buChar char="•"/>
            </a:pPr>
            <a:r>
              <a:rPr lang="en-US" dirty="0" smtClean="0"/>
              <a:t>The study tested translation in both Java → Python and Python → Java directions. </a:t>
            </a:r>
          </a:p>
          <a:p>
            <a:pPr algn="just"/>
            <a:endParaRPr lang="en-US" dirty="0" smtClean="0"/>
          </a:p>
          <a:p>
            <a:pPr algn="just">
              <a:buFont typeface="Arial" pitchFamily="34" charset="0"/>
              <a:buChar char="•"/>
            </a:pPr>
            <a:r>
              <a:rPr lang="en-US" dirty="0" smtClean="0"/>
              <a:t>The proposed method was compared with 14 existing code translation tools.</a:t>
            </a:r>
          </a:p>
          <a:p>
            <a:pPr algn="just"/>
            <a:endParaRPr lang="en-US" dirty="0" smtClean="0"/>
          </a:p>
          <a:p>
            <a:pPr algn="just">
              <a:buFont typeface="Arial" pitchFamily="34" charset="0"/>
              <a:buChar char="•"/>
            </a:pPr>
            <a:r>
              <a:rPr lang="en-US" dirty="0" smtClean="0"/>
              <a:t>These included rule-based tools, </a:t>
            </a:r>
            <a:r>
              <a:rPr lang="en-US" dirty="0" err="1" smtClean="0"/>
              <a:t>TransCoder</a:t>
            </a:r>
            <a:r>
              <a:rPr lang="en-US" dirty="0" smtClean="0"/>
              <a:t>-based methods, </a:t>
            </a:r>
            <a:r>
              <a:rPr lang="en-US" dirty="0" err="1" smtClean="0"/>
              <a:t>ChatGPT</a:t>
            </a:r>
            <a:r>
              <a:rPr lang="en-US" dirty="0" smtClean="0"/>
              <a:t> (GPT-3.5-turbo), PLBART, CodeT5, </a:t>
            </a:r>
            <a:r>
              <a:rPr lang="en-US" dirty="0" err="1" smtClean="0"/>
              <a:t>PPOCoder</a:t>
            </a:r>
            <a:r>
              <a:rPr lang="en-US" dirty="0" smtClean="0"/>
              <a:t>, and other LLM-based tools.</a:t>
            </a:r>
          </a:p>
          <a:p>
            <a:pPr algn="just"/>
            <a:r>
              <a:rPr lang="en-US" dirty="0" smtClean="0"/>
              <a:t> </a:t>
            </a:r>
          </a:p>
          <a:p>
            <a:pPr algn="just">
              <a:buFont typeface="Arial" pitchFamily="34" charset="0"/>
              <a:buChar char="•"/>
            </a:pPr>
            <a:r>
              <a:rPr lang="en-US" dirty="0" smtClean="0"/>
              <a:t>The methods were evaluated based on translation quality and functional correctness.</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3876127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5</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241175" y="0"/>
            <a:ext cx="5984111"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smtClean="0">
                <a:latin typeface="Times New Roman" panose="02020603050405020304" pitchFamily="18" charset="0"/>
                <a:cs typeface="Times New Roman" panose="02020603050405020304" pitchFamily="18" charset="0"/>
              </a:rPr>
              <a:t>| key Results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01 –</a:t>
            </a:r>
            <a:r>
              <a:rPr lang="en-US" sz="1400" dirty="0" err="1" smtClean="0"/>
              <a:t>CoTran</a:t>
            </a:r>
            <a:r>
              <a:rPr lang="en-US" sz="1400" dirty="0" smtClean="0"/>
              <a:t>  LLM-based Code Translator using RL with Compiler + Symbolic Execution Feedback</a:t>
            </a:r>
            <a:br>
              <a:rPr lang="en-US" sz="1400" dirty="0" smtClean="0"/>
            </a:br>
            <a:r>
              <a:rPr lang="en-US" sz="1400" dirty="0" err="1" smtClean="0"/>
              <a:t>Prithwish</a:t>
            </a:r>
            <a:r>
              <a:rPr lang="en-US" sz="1400" dirty="0" smtClean="0"/>
              <a:t> Jana,2024</a:t>
            </a:r>
            <a:endParaRPr lang="en-IN" sz="1400" dirty="0" smtClean="0"/>
          </a:p>
          <a:p>
            <a:endParaRPr lang="en-IN" sz="1400" dirty="0"/>
          </a:p>
        </p:txBody>
      </p:sp>
      <p:sp>
        <p:nvSpPr>
          <p:cNvPr id="30721" name="Rectangle 1"/>
          <p:cNvSpPr>
            <a:spLocks noChangeArrowheads="1"/>
          </p:cNvSpPr>
          <p:nvPr/>
        </p:nvSpPr>
        <p:spPr bwMode="auto">
          <a:xfrm>
            <a:off x="1180619" y="1747778"/>
            <a:ext cx="9225022" cy="39703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For Python → Java translation, </a:t>
            </a:r>
            <a:r>
              <a:rPr lang="en-US" dirty="0" err="1" smtClean="0">
                <a:latin typeface="Times New Roman" pitchFamily="18" charset="0"/>
                <a:cs typeface="Times New Roman" pitchFamily="18" charset="0"/>
              </a:rPr>
              <a:t>CoTran</a:t>
            </a:r>
            <a:r>
              <a:rPr lang="en-US" dirty="0" smtClean="0">
                <a:latin typeface="Times New Roman" pitchFamily="18" charset="0"/>
                <a:cs typeface="Times New Roman" pitchFamily="18" charset="0"/>
              </a:rPr>
              <a:t> achieved 48.68% Functional Equivalence Accuracy and 76.98% Compilation Accuracy.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For Java → Python translation, </a:t>
            </a:r>
            <a:r>
              <a:rPr lang="en-US" dirty="0" err="1" smtClean="0">
                <a:latin typeface="Times New Roman" pitchFamily="18" charset="0"/>
                <a:cs typeface="Times New Roman" pitchFamily="18" charset="0"/>
              </a:rPr>
              <a:t>CoTran</a:t>
            </a:r>
            <a:r>
              <a:rPr lang="en-US" dirty="0" smtClean="0">
                <a:latin typeface="Times New Roman" pitchFamily="18" charset="0"/>
                <a:cs typeface="Times New Roman" pitchFamily="18" charset="0"/>
              </a:rPr>
              <a:t> also improved translation quality compared with existing methods.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Compiler and symbolic-execution feedback helped generate code that compiles and behaves correctly on the test cases.</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The keyword </a:t>
            </a:r>
            <a:r>
              <a:rPr lang="en-US" dirty="0" err="1" smtClean="0">
                <a:latin typeface="Times New Roman" pitchFamily="18" charset="0"/>
                <a:cs typeface="Times New Roman" pitchFamily="18" charset="0"/>
              </a:rPr>
              <a:t>tokenizer</a:t>
            </a:r>
            <a:r>
              <a:rPr lang="en-US" dirty="0" smtClean="0">
                <a:latin typeface="Times New Roman" pitchFamily="18" charset="0"/>
                <a:cs typeface="Times New Roman" pitchFamily="18" charset="0"/>
              </a:rPr>
              <a:t> further improved translation performance. Detailed feedback was found to be more effective than simple yes/no correctness signals.</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Limitation: Functional correctness was evaluated using test cases, so it does not provide a complete proof of program equivalence.</a:t>
            </a:r>
            <a:endParaRPr kumimoji="0" lang="en-US"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220647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6</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368495" y="0"/>
            <a:ext cx="4279023"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smtClean="0">
                <a:latin typeface="Times New Roman" panose="02020603050405020304" pitchFamily="18" charset="0"/>
                <a:cs typeface="Times New Roman" panose="02020603050405020304" pitchFamily="18" charset="0"/>
              </a:rPr>
              <a:t>| Strengths &amp; Limitations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01 –</a:t>
            </a:r>
            <a:r>
              <a:rPr lang="en-US" sz="1400" dirty="0" err="1" smtClean="0"/>
              <a:t>CoTran</a:t>
            </a:r>
            <a:r>
              <a:rPr lang="en-US" sz="1400" dirty="0" smtClean="0"/>
              <a:t>  LLM-based Code Translator using RL with Compiler + Symbolic Execution Feedback</a:t>
            </a:r>
            <a:br>
              <a:rPr lang="en-US" sz="1400" dirty="0" smtClean="0"/>
            </a:br>
            <a:r>
              <a:rPr lang="en-US" sz="1400" dirty="0" err="1" smtClean="0"/>
              <a:t>Prithwish</a:t>
            </a:r>
            <a:r>
              <a:rPr lang="en-US" sz="1400" dirty="0" smtClean="0"/>
              <a:t> Jana,2024</a:t>
            </a:r>
            <a:endParaRPr lang="en-IN" sz="1400" dirty="0" smtClean="0"/>
          </a:p>
          <a:p>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lnSpc>
                <a:spcPct val="105000"/>
              </a:lnSpc>
              <a:buFont typeface="Arial" pitchFamily="34" charset="0"/>
              <a:buChar char="•"/>
            </a:pPr>
            <a:r>
              <a:rPr lang="en-US" sz="1600" dirty="0" err="1" smtClean="0">
                <a:solidFill>
                  <a:schemeClr val="dk1"/>
                </a:solidFill>
                <a:latin typeface="Times New Roman" pitchFamily="18" charset="0"/>
                <a:ea typeface="Calibri"/>
                <a:cs typeface="Times New Roman" pitchFamily="18" charset="0"/>
                <a:sym typeface="Calibri"/>
              </a:rPr>
              <a:t>CoTran's</a:t>
            </a:r>
            <a:r>
              <a:rPr lang="en-US" sz="1600" dirty="0" smtClean="0">
                <a:solidFill>
                  <a:schemeClr val="dk1"/>
                </a:solidFill>
                <a:latin typeface="Times New Roman" pitchFamily="18" charset="0"/>
                <a:ea typeface="Calibri"/>
                <a:cs typeface="Times New Roman" pitchFamily="18" charset="0"/>
                <a:sym typeface="Calibri"/>
              </a:rPr>
              <a:t> main strength is the use of actual compiler and symbolic-execution feedback during model fine-tuning. This gives the LLM information about concrete failures instead of asking it to rely only on its own generated code.</a:t>
            </a:r>
            <a:endParaRPr lang="en-US" sz="1600"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sz="1600" dirty="0" smtClean="0">
                <a:solidFill>
                  <a:schemeClr val="dk1"/>
                </a:solidFill>
                <a:latin typeface="Times New Roman" pitchFamily="18" charset="0"/>
                <a:ea typeface="Calibri"/>
                <a:cs typeface="Times New Roman" pitchFamily="18" charset="0"/>
                <a:sym typeface="Calibri"/>
              </a:rPr>
              <a:t>The approach works with whole programs and uses automatically generated or collected tests to evaluate behavior. The feedback is also fine-grained enough to distinguish compilation problems from functional differences.</a:t>
            </a:r>
            <a:endParaRPr lang="en-US" sz="1600"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sz="1600" dirty="0" smtClean="0">
                <a:solidFill>
                  <a:schemeClr val="dk1"/>
                </a:solidFill>
                <a:latin typeface="Times New Roman" pitchFamily="18" charset="0"/>
                <a:ea typeface="Calibri"/>
                <a:cs typeface="Times New Roman" pitchFamily="18" charset="0"/>
                <a:sym typeface="Calibri"/>
              </a:rPr>
              <a:t>The work provides a strong foundation for closed-loop translation because it connects generation with verification and uses the verification result to improve later translations</a:t>
            </a:r>
            <a:endParaRPr lang="en-IN" sz="1600" dirty="0">
              <a:latin typeface="Times New Roman" pitchFamily="18" charset="0"/>
              <a:cs typeface="Times New Roman" pitchFamily="18" charset="0"/>
            </a:endParaRPr>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lnSpc>
                <a:spcPct val="105000"/>
              </a:lnSpc>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The main limitation for our project is language scope. </a:t>
            </a:r>
            <a:r>
              <a:rPr lang="en-US" dirty="0" err="1" smtClean="0">
                <a:solidFill>
                  <a:schemeClr val="dk1"/>
                </a:solidFill>
                <a:latin typeface="Times New Roman" pitchFamily="18" charset="0"/>
                <a:ea typeface="Calibri"/>
                <a:cs typeface="Times New Roman" pitchFamily="18" charset="0"/>
                <a:sym typeface="Calibri"/>
              </a:rPr>
              <a:t>CoTran</a:t>
            </a:r>
            <a:r>
              <a:rPr lang="en-US" dirty="0" smtClean="0">
                <a:solidFill>
                  <a:schemeClr val="dk1"/>
                </a:solidFill>
                <a:latin typeface="Times New Roman" pitchFamily="18" charset="0"/>
                <a:ea typeface="Calibri"/>
                <a:cs typeface="Times New Roman" pitchFamily="18" charset="0"/>
                <a:sym typeface="Calibri"/>
              </a:rPr>
              <a:t> is configured for Java and Python, whereas our project focuses on Python-to-Rust translation.</a:t>
            </a:r>
            <a:endParaRPr lang="en-US"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The method also requires suitable paired code data, compilers and automated test generation. In addition, the equivalence measure is based on the available test suite, so passing tests does not establish universal program equivalence.</a:t>
            </a:r>
            <a:endParaRPr lang="en-US"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Rust introduces additional challenges such as ownership, borrowing and strict type checking, which require target-language-specific repair strategies.</a:t>
            </a:r>
            <a:endParaRPr lang="en-US" dirty="0">
              <a:latin typeface="Times New Roman" pitchFamily="18" charset="0"/>
              <a:cs typeface="Times New Roman" pitchFamily="18" charset="0"/>
            </a:endParaRP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smtClean="0">
                <a:latin typeface="Times New Roman" panose="02020603050405020304" pitchFamily="18" charset="0"/>
                <a:cs typeface="Times New Roman" panose="02020603050405020304" pitchFamily="18" charset="0"/>
              </a:rPr>
              <a:t>Strengths</a:t>
            </a:r>
            <a:endParaRPr lang="en-IN"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smtClean="0">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421589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7</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252750" y="0"/>
            <a:ext cx="4799884"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smtClean="0">
                <a:latin typeface="Times New Roman" panose="02020603050405020304" pitchFamily="18" charset="0"/>
                <a:cs typeface="Times New Roman" panose="02020603050405020304" pitchFamily="18" charset="0"/>
              </a:rPr>
              <a:t>| Relevance to my research |</a:t>
            </a:r>
            <a:endParaRPr lang="en-IN" sz="1400" dirty="0">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01 –</a:t>
            </a:r>
            <a:r>
              <a:rPr lang="en-US" sz="1400" dirty="0" err="1" smtClean="0"/>
              <a:t>CoTran</a:t>
            </a:r>
            <a:r>
              <a:rPr lang="en-US" sz="1400" dirty="0" smtClean="0"/>
              <a:t>  LLM-based Code Translator using RL with Compiler + Symbolic Execution Feedback</a:t>
            </a:r>
            <a:br>
              <a:rPr lang="en-US" sz="1400" dirty="0" smtClean="0"/>
            </a:br>
            <a:r>
              <a:rPr lang="en-US" sz="1400" dirty="0" err="1" smtClean="0"/>
              <a:t>Prithwish</a:t>
            </a:r>
            <a:r>
              <a:rPr lang="en-US" sz="1400" dirty="0" smtClean="0"/>
              <a:t> Jana,2024</a:t>
            </a:r>
            <a:endParaRPr lang="en-IN" sz="1400" dirty="0" smtClean="0"/>
          </a:p>
          <a:p>
            <a:endParaRPr lang="en-IN" sz="1400" dirty="0"/>
          </a:p>
        </p:txBody>
      </p:sp>
      <p:sp>
        <p:nvSpPr>
          <p:cNvPr id="18" name="Rectangle 17"/>
          <p:cNvSpPr/>
          <p:nvPr/>
        </p:nvSpPr>
        <p:spPr>
          <a:xfrm>
            <a:off x="868102" y="1803054"/>
            <a:ext cx="9688010" cy="3970318"/>
          </a:xfrm>
          <a:prstGeom prst="rect">
            <a:avLst/>
          </a:prstGeom>
        </p:spPr>
        <p:txBody>
          <a:bodyPr wrap="square">
            <a:spAutoFit/>
          </a:bodyPr>
          <a:lstStyle/>
          <a:p>
            <a:pPr algn="just">
              <a:buFont typeface="Arial" pitchFamily="34" charset="0"/>
              <a:buChar char="•"/>
            </a:pPr>
            <a:r>
              <a:rPr lang="en-US" dirty="0" err="1" smtClean="0">
                <a:latin typeface="Times New Roman" pitchFamily="18" charset="0"/>
                <a:cs typeface="Times New Roman" pitchFamily="18" charset="0"/>
              </a:rPr>
              <a:t>CoTran</a:t>
            </a:r>
            <a:r>
              <a:rPr lang="en-US" dirty="0" smtClean="0">
                <a:latin typeface="Times New Roman" pitchFamily="18" charset="0"/>
                <a:cs typeface="Times New Roman" pitchFamily="18" charset="0"/>
              </a:rPr>
              <a:t> supports the idea of using compiler and testing feedback to verify generated code before accepting the </a:t>
            </a:r>
            <a:r>
              <a:rPr lang="en-US" dirty="0" err="1" smtClean="0">
                <a:latin typeface="Times New Roman" pitchFamily="18" charset="0"/>
                <a:cs typeface="Times New Roman" pitchFamily="18" charset="0"/>
              </a:rPr>
              <a:t>translation.Its</a:t>
            </a:r>
            <a:r>
              <a:rPr lang="en-US" dirty="0" smtClean="0">
                <a:latin typeface="Times New Roman" pitchFamily="18" charset="0"/>
                <a:cs typeface="Times New Roman" pitchFamily="18" charset="0"/>
              </a:rPr>
              <a:t> symbolic-execution feedback motivates our use of verification and behavioral feedback. </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Our project extends this idea to Python → Rust translation using an </a:t>
            </a:r>
            <a:r>
              <a:rPr lang="en-US" dirty="0" err="1" smtClean="0">
                <a:latin typeface="Times New Roman" pitchFamily="18" charset="0"/>
                <a:cs typeface="Times New Roman" pitchFamily="18" charset="0"/>
              </a:rPr>
              <a:t>agentic</a:t>
            </a:r>
            <a:r>
              <a:rPr lang="en-US" dirty="0" smtClean="0">
                <a:latin typeface="Times New Roman" pitchFamily="18" charset="0"/>
                <a:cs typeface="Times New Roman" pitchFamily="18" charset="0"/>
              </a:rPr>
              <a:t> repair process instead of RL-based model fine-tuning. </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Specialized agents can analyze compiler errors, runtime errors, and behavioral differences and suggest corrections. </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Our project also uses differential testing by running the original Python code and generated Rust code with the same inputs and comparing their outputs. </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This feedback is used in an iterative correction loop to improve the translated Rust code. </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121859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8</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403220" y="0"/>
            <a:ext cx="6084674"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 Proposed Method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523220"/>
          </a:xfrm>
          <a:prstGeom prst="rect">
            <a:avLst/>
          </a:prstGeom>
        </p:spPr>
        <p:txBody>
          <a:bodyPr wrap="square">
            <a:spAutoFit/>
          </a:bodyPr>
          <a:lstStyle/>
          <a:p>
            <a:r>
              <a:rPr lang="en-US" sz="1400" b="1" dirty="0" smtClean="0"/>
              <a:t>Ref 02 – </a:t>
            </a:r>
            <a:r>
              <a:rPr lang="en-US" sz="1400" dirty="0" err="1" smtClean="0"/>
              <a:t>TransAgent</a:t>
            </a:r>
            <a:r>
              <a:rPr lang="en-US" sz="1400" dirty="0" smtClean="0"/>
              <a:t>: Enhancing LLM-Based Code Translation via Fine-Grained Execution Alignment </a:t>
            </a:r>
            <a:r>
              <a:rPr lang="en-US" sz="1400" dirty="0"/>
              <a:t/>
            </a:r>
            <a:br>
              <a:rPr lang="en-US" sz="1400" dirty="0"/>
            </a:br>
            <a:r>
              <a:rPr lang="en-US" sz="1400" dirty="0" err="1" smtClean="0"/>
              <a:t>Zhiqiang</a:t>
            </a:r>
            <a:r>
              <a:rPr lang="en-US" sz="1400" dirty="0" smtClean="0"/>
              <a:t> Yuan et al</a:t>
            </a:r>
            <a:r>
              <a:rPr lang="en-US" sz="1400" i="1" dirty="0" smtClean="0"/>
              <a:t>., 2026</a:t>
            </a:r>
            <a:endParaRPr lang="en-IN" sz="1400" dirty="0"/>
          </a:p>
        </p:txBody>
      </p:sp>
      <p:sp>
        <p:nvSpPr>
          <p:cNvPr id="18" name="Rectangle 17"/>
          <p:cNvSpPr/>
          <p:nvPr/>
        </p:nvSpPr>
        <p:spPr>
          <a:xfrm>
            <a:off x="486137" y="1723617"/>
            <a:ext cx="10984374" cy="4247317"/>
          </a:xfrm>
          <a:prstGeom prst="rect">
            <a:avLst/>
          </a:prstGeom>
        </p:spPr>
        <p:txBody>
          <a:bodyPr wrap="square">
            <a:spAutoFit/>
          </a:bodyPr>
          <a:lstStyle/>
          <a:p>
            <a:pPr algn="just"/>
            <a:r>
              <a:rPr lang="en-US" dirty="0" err="1" smtClean="0">
                <a:latin typeface="Times New Roman" pitchFamily="18" charset="0"/>
                <a:cs typeface="Times New Roman" pitchFamily="18" charset="0"/>
              </a:rPr>
              <a:t>TransAgent</a:t>
            </a:r>
            <a:r>
              <a:rPr lang="en-US" dirty="0" smtClean="0">
                <a:latin typeface="Times New Roman" pitchFamily="18" charset="0"/>
                <a:cs typeface="Times New Roman" pitchFamily="18" charset="0"/>
              </a:rPr>
              <a:t> is a multi-agent framework designed to improve LLM-generated code translation by identifying and repairing syntax and semantic errors.</a:t>
            </a:r>
          </a:p>
          <a:p>
            <a:pPr algn="just"/>
            <a:r>
              <a:rPr lang="en-US" dirty="0" smtClean="0">
                <a:latin typeface="Times New Roman" pitchFamily="18" charset="0"/>
                <a:cs typeface="Times New Roman" pitchFamily="18" charset="0"/>
              </a:rPr>
              <a:t>The Initial Code Translator generates the first version of the target code along with test inputs.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Syntax Error Fixer analyzes compiler or interpreter errors and converts them into specific, actionable repair suggestions. It iteratively fixes the code until the syntax errors are resolved. </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Code Aligner divides the source program into logical blocks using a control-flow graph (CFG) and maps them to the corresponding target-code blocks. </a:t>
            </a:r>
          </a:p>
          <a:p>
            <a:pPr algn="just"/>
            <a:r>
              <a:rPr lang="en-US" dirty="0" smtClean="0">
                <a:latin typeface="Times New Roman" pitchFamily="18" charset="0"/>
                <a:cs typeface="Times New Roman" pitchFamily="18" charset="0"/>
              </a:rPr>
              <a:t>The Semantic Error Fixer executes both source and target programs using the same inputs and compares their runtime values block by block. </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When a difference is detected, the faulty target block is identified and repaired instead of modifying unrelated code. </a:t>
            </a:r>
          </a:p>
          <a:p>
            <a:pPr algn="just"/>
            <a:r>
              <a:rPr lang="en-US" dirty="0" smtClean="0">
                <a:latin typeface="Times New Roman" pitchFamily="18" charset="0"/>
                <a:cs typeface="Times New Roman" pitchFamily="18" charset="0"/>
              </a:rPr>
              <a:t>This targeted multi-agent process helps improve both the syntactic correctness and functional behavior of translated code. </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266901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0" y="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9</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368496" y="0"/>
            <a:ext cx="8040795"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smtClean="0">
                <a:latin typeface="Times New Roman" panose="02020603050405020304" pitchFamily="18" charset="0"/>
                <a:cs typeface="Times New Roman" panose="02020603050405020304" pitchFamily="18" charset="0"/>
              </a:rPr>
              <a:t>| Data &amp; Setup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02 -</a:t>
            </a:r>
            <a:r>
              <a:rPr lang="en-US" sz="1400" dirty="0" err="1" smtClean="0"/>
              <a:t>TransAgent</a:t>
            </a:r>
            <a:r>
              <a:rPr lang="en-US" sz="1400" dirty="0" smtClean="0"/>
              <a:t>: Enhancing LLM-Based Code Translation via Fine-Grained Execution Alignment </a:t>
            </a:r>
            <a:br>
              <a:rPr lang="en-US" sz="1400" dirty="0" smtClean="0"/>
            </a:br>
            <a:r>
              <a:rPr lang="en-US" sz="1400" dirty="0" err="1" smtClean="0"/>
              <a:t>Zhiqiang</a:t>
            </a:r>
            <a:r>
              <a:rPr lang="en-US" sz="1400" dirty="0" smtClean="0"/>
              <a:t> Yuan et al</a:t>
            </a:r>
            <a:r>
              <a:rPr lang="en-US" sz="1400" i="1" dirty="0" smtClean="0"/>
              <a:t>., 2026</a:t>
            </a:r>
            <a:endParaRPr lang="en-IN" sz="1400" dirty="0" smtClean="0"/>
          </a:p>
          <a:p>
            <a:endParaRPr lang="en-IN" sz="1400" dirty="0"/>
          </a:p>
        </p:txBody>
      </p:sp>
      <p:sp>
        <p:nvSpPr>
          <p:cNvPr id="22529" name="Rectangle 1"/>
          <p:cNvSpPr>
            <a:spLocks noChangeArrowheads="1"/>
          </p:cNvSpPr>
          <p:nvPr/>
        </p:nvSpPr>
        <p:spPr bwMode="auto">
          <a:xfrm>
            <a:off x="740780" y="1678330"/>
            <a:ext cx="10637134"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Dataset: A new leak-free benchmark containing around 610 programming tasks from Java, Python, and C++.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The tasks were collected from problems published after the training cutoff of the evaluated LLMs to reduce the risk of data leakage.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Translation was evaluated in six directions: Java → Python, Java → C++, C++ → Java, C++ → Python,</a:t>
            </a:r>
          </a:p>
          <a:p>
            <a:pPr lvl="0" algn="just" fontAlgn="base">
              <a:spcBef>
                <a:spcPct val="0"/>
              </a:spcBef>
              <a:spcAft>
                <a:spcPct val="0"/>
              </a:spcAft>
            </a:pPr>
            <a:r>
              <a:rPr lang="en-US" dirty="0" smtClean="0">
                <a:latin typeface="Times New Roman" pitchFamily="18" charset="0"/>
                <a:cs typeface="Times New Roman" pitchFamily="18" charset="0"/>
              </a:rPr>
              <a:t> Python → C++, and Python → Java.</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The main evaluation metric was Computational Accuracy (CA), where a translation is successful if it passes all required test cases.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Other measures included repair accuracy, number of repair iterations, mapping accuracy, and generalization across different LLMs.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err="1" smtClean="0">
                <a:latin typeface="Times New Roman" pitchFamily="18" charset="0"/>
                <a:cs typeface="Times New Roman" pitchFamily="18" charset="0"/>
              </a:rPr>
              <a:t>TransAgent</a:t>
            </a:r>
            <a:r>
              <a:rPr lang="en-US" dirty="0" smtClean="0">
                <a:latin typeface="Times New Roman" pitchFamily="18" charset="0"/>
                <a:cs typeface="Times New Roman" pitchFamily="18" charset="0"/>
              </a:rPr>
              <a:t> was compared with </a:t>
            </a:r>
            <a:r>
              <a:rPr lang="en-US" dirty="0" err="1" smtClean="0">
                <a:latin typeface="Times New Roman" pitchFamily="18" charset="0"/>
                <a:cs typeface="Times New Roman" pitchFamily="18" charset="0"/>
              </a:rPr>
              <a:t>UniTrans</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TransCoder</a:t>
            </a:r>
            <a:r>
              <a:rPr lang="en-US" dirty="0" smtClean="0">
                <a:latin typeface="Times New Roman" pitchFamily="18" charset="0"/>
                <a:cs typeface="Times New Roman" pitchFamily="18" charset="0"/>
              </a:rPr>
              <a:t> for translation, and with </a:t>
            </a:r>
            <a:r>
              <a:rPr lang="en-US" dirty="0" err="1" smtClean="0">
                <a:latin typeface="Times New Roman" pitchFamily="18" charset="0"/>
                <a:cs typeface="Times New Roman" pitchFamily="18" charset="0"/>
              </a:rPr>
              <a:t>Agentless</a:t>
            </a:r>
            <a:r>
              <a:rPr lang="en-US" dirty="0" smtClean="0">
                <a:latin typeface="Times New Roman" pitchFamily="18" charset="0"/>
                <a:cs typeface="Times New Roman" pitchFamily="18" charset="0"/>
              </a:rPr>
              <a:t> and a </a:t>
            </a:r>
            <a:r>
              <a:rPr lang="en-US" dirty="0" err="1" smtClean="0">
                <a:latin typeface="Times New Roman" pitchFamily="18" charset="0"/>
                <a:cs typeface="Times New Roman" pitchFamily="18" charset="0"/>
              </a:rPr>
              <a:t>TransMap</a:t>
            </a:r>
            <a:r>
              <a:rPr lang="en-US" dirty="0" smtClean="0">
                <a:latin typeface="Times New Roman" pitchFamily="18" charset="0"/>
                <a:cs typeface="Times New Roman" pitchFamily="18" charset="0"/>
              </a:rPr>
              <a:t>-based method for code repair.</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3981910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10</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218026" y="46300"/>
            <a:ext cx="5100825"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0"/>
            <a:ext cx="993618" cy="855263"/>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smtClean="0">
                <a:latin typeface="Times New Roman" panose="02020603050405020304" pitchFamily="18" charset="0"/>
                <a:cs typeface="Times New Roman" panose="02020603050405020304" pitchFamily="18" charset="0"/>
              </a:rPr>
              <a:t>| key Results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02 – </a:t>
            </a:r>
            <a:r>
              <a:rPr lang="en-US" sz="1400" dirty="0" err="1" smtClean="0"/>
              <a:t>TransAgent</a:t>
            </a:r>
            <a:r>
              <a:rPr lang="en-US" sz="1400" dirty="0" smtClean="0"/>
              <a:t>: Enhancing LLM-Based Code Translation via Fine-Grained Execution Alignment </a:t>
            </a:r>
            <a:br>
              <a:rPr lang="en-US" sz="1400" dirty="0" smtClean="0"/>
            </a:br>
            <a:r>
              <a:rPr lang="en-US" sz="1400" dirty="0" err="1" smtClean="0"/>
              <a:t>Zhiqiang</a:t>
            </a:r>
            <a:r>
              <a:rPr lang="en-US" sz="1400" dirty="0" smtClean="0"/>
              <a:t> Yuan et al</a:t>
            </a:r>
            <a:r>
              <a:rPr lang="en-US" sz="1400" i="1" dirty="0" smtClean="0"/>
              <a:t>., 2026</a:t>
            </a:r>
            <a:endParaRPr lang="en-IN" sz="1400" dirty="0" smtClean="0"/>
          </a:p>
          <a:p>
            <a:endParaRPr lang="en-IN" sz="1400" dirty="0"/>
          </a:p>
        </p:txBody>
      </p:sp>
      <p:sp>
        <p:nvSpPr>
          <p:cNvPr id="20481" name="Rectangle 1"/>
          <p:cNvSpPr>
            <a:spLocks noChangeArrowheads="1"/>
          </p:cNvSpPr>
          <p:nvPr/>
        </p:nvSpPr>
        <p:spPr bwMode="auto">
          <a:xfrm>
            <a:off x="613457" y="1759353"/>
            <a:ext cx="10532963" cy="36933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err="1" smtClean="0">
                <a:latin typeface="Times New Roman" pitchFamily="18" charset="0"/>
                <a:cs typeface="Times New Roman" pitchFamily="18" charset="0"/>
              </a:rPr>
              <a:t>TransAgent</a:t>
            </a:r>
            <a:r>
              <a:rPr lang="en-US" dirty="0" smtClean="0">
                <a:latin typeface="Times New Roman" pitchFamily="18" charset="0"/>
                <a:cs typeface="Times New Roman" pitchFamily="18" charset="0"/>
              </a:rPr>
              <a:t> improved the correctness of LLM-generated code translations compared with existing translation and repair methods.</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The multi-agent design helped separate different types of errors and handle them individually.</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CFG-based code alignment improved the mapping between corresponding source and target program blocks.</a:t>
            </a:r>
          </a:p>
          <a:p>
            <a:pPr lvl="0" algn="just" fontAlgn="base">
              <a:spcBef>
                <a:spcPct val="0"/>
              </a:spcBef>
              <a:spcAft>
                <a:spcPct val="0"/>
              </a:spcAft>
            </a:pPr>
            <a:r>
              <a:rPr lang="en-US" dirty="0" smtClean="0">
                <a:latin typeface="Times New Roman" pitchFamily="18" charset="0"/>
                <a:cs typeface="Times New Roman" pitchFamily="18" charset="0"/>
              </a:rPr>
              <a:t> </a:t>
            </a: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Runtime comparison helped locate semantic errors instead of modifying the entire translated program. The targeted repair process reduced unnecessary changes to correct parts of the generated code.</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The approach showed consistent improvements when different LLM models were used as the backbone. Most errors could be corrected within a few repair iterations, showing that the iterative repair process was practical.</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a:t>
            </a:r>
          </a:p>
        </p:txBody>
      </p:sp>
    </p:spTree>
    <p:extLst>
      <p:ext uri="{BB962C8B-B14F-4D97-AF65-F5344CB8AC3E}">
        <p14:creationId xmlns="" xmlns:p14="http://schemas.microsoft.com/office/powerpoint/2010/main" val="3167751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11</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333823" y="31393"/>
            <a:ext cx="5610112"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smtClean="0">
                <a:latin typeface="Times New Roman" panose="02020603050405020304" pitchFamily="18" charset="0"/>
                <a:cs typeface="Times New Roman" panose="02020603050405020304" pitchFamily="18" charset="0"/>
              </a:rPr>
              <a:t>| Strengths &amp; Limitations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02 – </a:t>
            </a:r>
            <a:r>
              <a:rPr lang="en-US" sz="1400" dirty="0" err="1" smtClean="0"/>
              <a:t>TransAgent</a:t>
            </a:r>
            <a:r>
              <a:rPr lang="en-US" sz="1400" dirty="0" smtClean="0"/>
              <a:t>: Enhancing LLM-Based Code Translation via Fine-Grained Execution Alignment </a:t>
            </a:r>
            <a:br>
              <a:rPr lang="en-US" sz="1400" dirty="0" smtClean="0"/>
            </a:br>
            <a:r>
              <a:rPr lang="en-US" sz="1400" dirty="0" err="1" smtClean="0"/>
              <a:t>Zhiqiang</a:t>
            </a:r>
            <a:r>
              <a:rPr lang="en-US" sz="1400" dirty="0" smtClean="0"/>
              <a:t> Yuan et al</a:t>
            </a:r>
            <a:r>
              <a:rPr lang="en-US" sz="1400" i="1" dirty="0" smtClean="0"/>
              <a:t>., 2026</a:t>
            </a:r>
            <a:endParaRPr lang="en-IN" sz="1400" dirty="0" smtClean="0"/>
          </a:p>
          <a:p>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lnSpc>
                <a:spcPct val="105000"/>
              </a:lnSpc>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The strongest feature of </a:t>
            </a:r>
            <a:r>
              <a:rPr lang="en-US" dirty="0" err="1" smtClean="0">
                <a:solidFill>
                  <a:schemeClr val="dk1"/>
                </a:solidFill>
                <a:latin typeface="Times New Roman" pitchFamily="18" charset="0"/>
                <a:ea typeface="Calibri"/>
                <a:cs typeface="Times New Roman" pitchFamily="18" charset="0"/>
                <a:sym typeface="Calibri"/>
              </a:rPr>
              <a:t>TransAGENT</a:t>
            </a:r>
            <a:r>
              <a:rPr lang="en-US" dirty="0" smtClean="0">
                <a:solidFill>
                  <a:schemeClr val="dk1"/>
                </a:solidFill>
                <a:latin typeface="Times New Roman" pitchFamily="18" charset="0"/>
                <a:ea typeface="Calibri"/>
                <a:cs typeface="Times New Roman" pitchFamily="18" charset="0"/>
                <a:sym typeface="Calibri"/>
              </a:rPr>
              <a:t> is its separation of responsibilities. Translation, syntax correction, code alignment and semantic correction are treated as different tasks.</a:t>
            </a:r>
            <a:endParaRPr lang="en-US"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Fine-grained fault localization is another important strength. The system compares runtime information between aligned source and target blocks, which helps identify the part of the target program responsible for a behavioral difference.</a:t>
            </a:r>
            <a:endParaRPr lang="en-US"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The approach also shows strong generalization across different LLMs and reports high mapping accuracy for source-target block alignment.</a:t>
            </a:r>
            <a:endParaRPr lang="en-US" dirty="0">
              <a:latin typeface="Times New Roman" pitchFamily="18" charset="0"/>
              <a:cs typeface="Times New Roman" pitchFamily="18" charset="0"/>
            </a:endParaRPr>
          </a:p>
        </p:txBody>
      </p:sp>
      <p:sp>
        <p:nvSpPr>
          <p:cNvPr id="18" name="Rounded Rectangle 17"/>
          <p:cNvSpPr/>
          <p:nvPr/>
        </p:nvSpPr>
        <p:spPr>
          <a:xfrm>
            <a:off x="6146800" y="2210765"/>
            <a:ext cx="5699760" cy="3646025"/>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lnSpc>
                <a:spcPct val="105000"/>
              </a:lnSpc>
              <a:buFont typeface="Arial" pitchFamily="34" charset="0"/>
              <a:buChar char="•"/>
            </a:pPr>
            <a:r>
              <a:rPr lang="en-US" dirty="0" err="1" smtClean="0">
                <a:solidFill>
                  <a:schemeClr val="dk1"/>
                </a:solidFill>
                <a:latin typeface="Times New Roman" pitchFamily="18" charset="0"/>
                <a:ea typeface="Calibri"/>
                <a:cs typeface="Times New Roman" pitchFamily="18" charset="0"/>
                <a:sym typeface="Calibri"/>
              </a:rPr>
              <a:t>TransAGENT</a:t>
            </a:r>
            <a:r>
              <a:rPr lang="en-US" dirty="0" smtClean="0">
                <a:solidFill>
                  <a:schemeClr val="dk1"/>
                </a:solidFill>
                <a:latin typeface="Times New Roman" pitchFamily="18" charset="0"/>
                <a:ea typeface="Calibri"/>
                <a:cs typeface="Times New Roman" pitchFamily="18" charset="0"/>
                <a:sym typeface="Calibri"/>
              </a:rPr>
              <a:t> is evaluated mainly on Python, Java and C++, so its repair strategies cannot be directly assumed to solve Python-to-Rust translation.</a:t>
            </a:r>
            <a:endParaRPr lang="en-US"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The framework depends on executable source and target programs, runtime information and an alignment mechanism. Rust-specific compiler and ownership errors require additional handling.</a:t>
            </a:r>
            <a:endParaRPr lang="en-US"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The method also introduces multiple agents and runtime analysis, which can increase implementation complexity compared with a simple one-shot translator.</a:t>
            </a:r>
            <a:endParaRPr lang="en-US" dirty="0">
              <a:latin typeface="Times New Roman" pitchFamily="18" charset="0"/>
              <a:cs typeface="Times New Roman" pitchFamily="18" charset="0"/>
            </a:endParaRP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smtClean="0">
                <a:latin typeface="Times New Roman" panose="02020603050405020304" pitchFamily="18" charset="0"/>
                <a:cs typeface="Times New Roman" panose="02020603050405020304" pitchFamily="18" charset="0"/>
              </a:rPr>
              <a:t>Strengths</a:t>
            </a:r>
            <a:endParaRPr lang="en-IN"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smtClean="0">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753889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12</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241176" y="31393"/>
            <a:ext cx="3862334"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smtClean="0">
                <a:latin typeface="Times New Roman" panose="02020603050405020304" pitchFamily="18" charset="0"/>
                <a:cs typeface="Times New Roman" panose="02020603050405020304" pitchFamily="18" charset="0"/>
              </a:rPr>
              <a:t>| Relevance to my research |</a:t>
            </a:r>
            <a:endParaRPr lang="en-IN" sz="1400" dirty="0">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02 – </a:t>
            </a:r>
            <a:r>
              <a:rPr lang="en-US" sz="1400" dirty="0" err="1" smtClean="0"/>
              <a:t>TransAgent</a:t>
            </a:r>
            <a:r>
              <a:rPr lang="en-US" sz="1400" dirty="0" smtClean="0"/>
              <a:t>: Enhancing LLM-Based Code Translation via Fine-Grained Execution Alignment </a:t>
            </a:r>
            <a:br>
              <a:rPr lang="en-US" sz="1400" dirty="0" smtClean="0"/>
            </a:br>
            <a:r>
              <a:rPr lang="en-US" sz="1400" dirty="0" err="1" smtClean="0"/>
              <a:t>Zhiqiang</a:t>
            </a:r>
            <a:r>
              <a:rPr lang="en-US" sz="1400" dirty="0" smtClean="0"/>
              <a:t> Yuan et al</a:t>
            </a:r>
            <a:r>
              <a:rPr lang="en-US" sz="1400" i="1" dirty="0" smtClean="0"/>
              <a:t>., 2026</a:t>
            </a:r>
            <a:endParaRPr lang="en-IN" sz="1400" dirty="0" smtClean="0"/>
          </a:p>
          <a:p>
            <a:endParaRPr lang="en-IN" sz="1400" dirty="0"/>
          </a:p>
        </p:txBody>
      </p:sp>
      <p:sp>
        <p:nvSpPr>
          <p:cNvPr id="18" name="Rectangle 17"/>
          <p:cNvSpPr/>
          <p:nvPr/>
        </p:nvSpPr>
        <p:spPr>
          <a:xfrm>
            <a:off x="729205" y="1713053"/>
            <a:ext cx="10729732" cy="4247317"/>
          </a:xfrm>
          <a:prstGeom prst="rect">
            <a:avLst/>
          </a:prstGeom>
        </p:spPr>
        <p:txBody>
          <a:bodyPr wrap="square">
            <a:spAutoFit/>
          </a:bodyPr>
          <a:lstStyle/>
          <a:p>
            <a:pPr algn="just">
              <a:buFont typeface="Arial" pitchFamily="34" charset="0"/>
              <a:buChar char="•"/>
            </a:pPr>
            <a:r>
              <a:rPr lang="en-US" dirty="0" err="1" smtClean="0">
                <a:latin typeface="Times New Roman" pitchFamily="18" charset="0"/>
                <a:cs typeface="Times New Roman" pitchFamily="18" charset="0"/>
              </a:rPr>
              <a:t>TransAgent</a:t>
            </a:r>
            <a:r>
              <a:rPr lang="en-US" dirty="0" smtClean="0">
                <a:latin typeface="Times New Roman" pitchFamily="18" charset="0"/>
                <a:cs typeface="Times New Roman" pitchFamily="18" charset="0"/>
              </a:rPr>
              <a:t> shows that LLM-generated translations can be improved through an iterative error detection and repair process.</a:t>
            </a:r>
          </a:p>
          <a:p>
            <a:pPr algn="just"/>
            <a:r>
              <a:rPr lang="en-US" dirty="0" smtClean="0">
                <a:latin typeface="Times New Roman" pitchFamily="18" charset="0"/>
                <a:cs typeface="Times New Roman" pitchFamily="18" charset="0"/>
              </a:rPr>
              <a:t> </a:t>
            </a:r>
          </a:p>
          <a:p>
            <a:pPr algn="just">
              <a:buFont typeface="Arial" pitchFamily="34" charset="0"/>
              <a:buChar char="•"/>
            </a:pPr>
            <a:r>
              <a:rPr lang="en-US" dirty="0" smtClean="0">
                <a:latin typeface="Times New Roman" pitchFamily="18" charset="0"/>
                <a:cs typeface="Times New Roman" pitchFamily="18" charset="0"/>
              </a:rPr>
              <a:t>Its use of compiler feedback supports our idea of using compiler errors to guide the correction of generated code. </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Its execution-based semantic checking motivates our use of runtime and behavioral feedback. </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Our project extends this concept to Python → Rust translation, where the generated Rust code is checked for compilation, runtime behavior, and output correctness. </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Instead of relying on CFG-based block alignment, our approach uses differential testing by running the original Python and generated Rust programs with the same inputs.</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The main focus of our project is to build an </a:t>
            </a:r>
            <a:r>
              <a:rPr lang="en-US" dirty="0" err="1" smtClean="0">
                <a:latin typeface="Times New Roman" pitchFamily="18" charset="0"/>
                <a:cs typeface="Times New Roman" pitchFamily="18" charset="0"/>
              </a:rPr>
              <a:t>agentic</a:t>
            </a:r>
            <a:r>
              <a:rPr lang="en-US" dirty="0" smtClean="0">
                <a:latin typeface="Times New Roman" pitchFamily="18" charset="0"/>
                <a:cs typeface="Times New Roman" pitchFamily="18" charset="0"/>
              </a:rPr>
              <a:t> repair loop that can identify errors, generate corrections, recompile the Rust code, and repeat the process until the required behavior is achieved. </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16602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13</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310632" y="31393"/>
            <a:ext cx="4116977"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 Proposed Method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523220"/>
          </a:xfrm>
          <a:prstGeom prst="rect">
            <a:avLst/>
          </a:prstGeom>
        </p:spPr>
        <p:txBody>
          <a:bodyPr wrap="square">
            <a:spAutoFit/>
          </a:bodyPr>
          <a:lstStyle/>
          <a:p>
            <a:r>
              <a:rPr lang="en-US" sz="1400" b="1" dirty="0" smtClean="0"/>
              <a:t>Ref 03 –</a:t>
            </a:r>
            <a:r>
              <a:rPr lang="en-US" sz="1400" dirty="0" err="1" smtClean="0"/>
              <a:t>SafeTrans</a:t>
            </a:r>
            <a:r>
              <a:rPr lang="en-US" sz="1400" dirty="0" smtClean="0"/>
              <a:t>: LLM-assisted </a:t>
            </a:r>
            <a:r>
              <a:rPr lang="en-US" sz="1400" dirty="0" err="1" smtClean="0"/>
              <a:t>Transpilation</a:t>
            </a:r>
            <a:r>
              <a:rPr lang="en-US" sz="1400" dirty="0" smtClean="0"/>
              <a:t> from C to Rust</a:t>
            </a:r>
            <a:r>
              <a:rPr lang="en-US" sz="1400" dirty="0"/>
              <a:t/>
            </a:r>
            <a:br>
              <a:rPr lang="en-US" sz="1400" dirty="0"/>
            </a:br>
            <a:r>
              <a:rPr lang="en-US" sz="1400" dirty="0" smtClean="0"/>
              <a:t>Muhammad </a:t>
            </a:r>
            <a:r>
              <a:rPr lang="en-US" sz="1400" dirty="0" err="1" smtClean="0"/>
              <a:t>Farrukh</a:t>
            </a:r>
            <a:r>
              <a:rPr lang="en-US" sz="1400" i="1" dirty="0" smtClean="0"/>
              <a:t> </a:t>
            </a:r>
            <a:r>
              <a:rPr lang="en-US" sz="1400" i="1" dirty="0"/>
              <a:t>et al., </a:t>
            </a:r>
            <a:r>
              <a:rPr lang="en-US" sz="1400" i="1" dirty="0" smtClean="0"/>
              <a:t>2026 </a:t>
            </a:r>
            <a:endParaRPr lang="en-IN" sz="1400" dirty="0"/>
          </a:p>
        </p:txBody>
      </p:sp>
      <p:sp>
        <p:nvSpPr>
          <p:cNvPr id="18" name="Rectangle 17"/>
          <p:cNvSpPr/>
          <p:nvPr/>
        </p:nvSpPr>
        <p:spPr>
          <a:xfrm>
            <a:off x="231492" y="1733206"/>
            <a:ext cx="11586259" cy="3970318"/>
          </a:xfrm>
          <a:prstGeom prst="rect">
            <a:avLst/>
          </a:prstGeom>
        </p:spPr>
        <p:txBody>
          <a:bodyPr wrap="square">
            <a:spAutoFit/>
          </a:bodyPr>
          <a:lstStyle/>
          <a:p>
            <a:pPr algn="just"/>
            <a:r>
              <a:rPr lang="en-US" dirty="0" err="1" smtClean="0"/>
              <a:t>SafeTrans</a:t>
            </a:r>
            <a:r>
              <a:rPr lang="en-US" dirty="0" smtClean="0"/>
              <a:t> proposes an LLM-based framework for translating C programs into Rust through an iterative four-stage process:</a:t>
            </a:r>
          </a:p>
          <a:p>
            <a:pPr algn="just"/>
            <a:endParaRPr lang="en-US" dirty="0" smtClean="0"/>
          </a:p>
          <a:p>
            <a:pPr algn="just">
              <a:buFont typeface="Arial" pitchFamily="34" charset="0"/>
              <a:buChar char="•"/>
            </a:pPr>
            <a:r>
              <a:rPr lang="en-US" dirty="0" err="1" smtClean="0"/>
              <a:t>Transpile</a:t>
            </a:r>
            <a:r>
              <a:rPr lang="en-US" dirty="0" smtClean="0"/>
              <a:t>: The LLM converts the original C program into Rust. </a:t>
            </a:r>
          </a:p>
          <a:p>
            <a:pPr algn="just">
              <a:buFont typeface="Arial" pitchFamily="34" charset="0"/>
              <a:buChar char="•"/>
            </a:pPr>
            <a:endParaRPr lang="en-US" dirty="0" smtClean="0"/>
          </a:p>
          <a:p>
            <a:pPr algn="just">
              <a:buFont typeface="Arial" pitchFamily="34" charset="0"/>
              <a:buChar char="•"/>
            </a:pPr>
            <a:r>
              <a:rPr lang="en-US" dirty="0" smtClean="0"/>
              <a:t>Compile: The generated Rust code is compiled using the Rust compiler to identify compilation errors. </a:t>
            </a:r>
          </a:p>
          <a:p>
            <a:pPr algn="just">
              <a:buFont typeface="Arial" pitchFamily="34" charset="0"/>
              <a:buChar char="•"/>
            </a:pPr>
            <a:endParaRPr lang="en-US" dirty="0" smtClean="0"/>
          </a:p>
          <a:p>
            <a:pPr algn="just">
              <a:buFont typeface="Arial" pitchFamily="34" charset="0"/>
              <a:buChar char="•"/>
            </a:pPr>
            <a:r>
              <a:rPr lang="en-US" dirty="0" smtClean="0"/>
              <a:t>Repair: Compiler errors are provided to the LLM to repair the generated Rust code. </a:t>
            </a:r>
            <a:r>
              <a:rPr lang="en-US" dirty="0" err="1" smtClean="0"/>
              <a:t>SafeTrans</a:t>
            </a:r>
            <a:r>
              <a:rPr lang="en-US" dirty="0" smtClean="0"/>
              <a:t> also uses few-shot guided repair instructions for common Rust error types. </a:t>
            </a:r>
          </a:p>
          <a:p>
            <a:pPr algn="just">
              <a:buFont typeface="Arial" pitchFamily="34" charset="0"/>
              <a:buChar char="•"/>
            </a:pPr>
            <a:endParaRPr lang="en-US" dirty="0" smtClean="0"/>
          </a:p>
          <a:p>
            <a:pPr algn="just">
              <a:buFont typeface="Arial" pitchFamily="34" charset="0"/>
              <a:buChar char="•"/>
            </a:pPr>
            <a:r>
              <a:rPr lang="en-US" dirty="0" smtClean="0"/>
              <a:t>Validate: Successfully compiled programs are executed using test cases. Runtime errors or incorrect outputs trigger another repair cycle. </a:t>
            </a:r>
          </a:p>
          <a:p>
            <a:pPr algn="just">
              <a:buFont typeface="Arial" pitchFamily="34" charset="0"/>
              <a:buChar char="•"/>
            </a:pPr>
            <a:endParaRPr lang="en-US" dirty="0" smtClean="0"/>
          </a:p>
          <a:p>
            <a:pPr algn="just">
              <a:buFont typeface="Arial" pitchFamily="34" charset="0"/>
              <a:buChar char="•"/>
            </a:pPr>
            <a:r>
              <a:rPr lang="en-US" dirty="0" smtClean="0"/>
              <a:t>Security Analysis: The framework also checks whether security vulnerabilities present in the original C program are addressed in the generated Rust code. </a:t>
            </a:r>
            <a:endParaRPr lang="en-US" dirty="0"/>
          </a:p>
        </p:txBody>
      </p:sp>
    </p:spTree>
    <p:extLst>
      <p:ext uri="{BB962C8B-B14F-4D97-AF65-F5344CB8AC3E}">
        <p14:creationId xmlns="" xmlns:p14="http://schemas.microsoft.com/office/powerpoint/2010/main" val="1997796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14</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299062" y="31393"/>
            <a:ext cx="4267448"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smtClean="0">
                <a:latin typeface="Times New Roman" panose="02020603050405020304" pitchFamily="18" charset="0"/>
                <a:cs typeface="Times New Roman" panose="02020603050405020304" pitchFamily="18" charset="0"/>
              </a:rPr>
              <a:t>| Data &amp; Setup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03 –</a:t>
            </a:r>
            <a:r>
              <a:rPr lang="en-US" sz="1400" dirty="0" err="1" smtClean="0"/>
              <a:t>SafeTrans</a:t>
            </a:r>
            <a:r>
              <a:rPr lang="en-US" sz="1400" dirty="0" smtClean="0"/>
              <a:t>: LLM-assisted </a:t>
            </a:r>
            <a:r>
              <a:rPr lang="en-US" sz="1400" dirty="0" err="1" smtClean="0"/>
              <a:t>Transpilation</a:t>
            </a:r>
            <a:r>
              <a:rPr lang="en-US" sz="1400" dirty="0" smtClean="0"/>
              <a:t> from C to Rust</a:t>
            </a:r>
            <a:br>
              <a:rPr lang="en-US" sz="1400" dirty="0" smtClean="0"/>
            </a:br>
            <a:r>
              <a:rPr lang="en-US" sz="1400" dirty="0" smtClean="0"/>
              <a:t>Muhammad </a:t>
            </a:r>
            <a:r>
              <a:rPr lang="en-US" sz="1400" dirty="0" err="1" smtClean="0"/>
              <a:t>Farrukh</a:t>
            </a:r>
            <a:r>
              <a:rPr lang="en-US" sz="1400" i="1" dirty="0" smtClean="0"/>
              <a:t> et al., 2026 </a:t>
            </a:r>
            <a:endParaRPr lang="en-IN" sz="1400" dirty="0" smtClean="0"/>
          </a:p>
          <a:p>
            <a:endParaRPr lang="en-IN" sz="1400" dirty="0"/>
          </a:p>
        </p:txBody>
      </p:sp>
      <p:sp>
        <p:nvSpPr>
          <p:cNvPr id="12290" name="Rectangle 2"/>
          <p:cNvSpPr>
            <a:spLocks noChangeArrowheads="1"/>
          </p:cNvSpPr>
          <p:nvPr/>
        </p:nvSpPr>
        <p:spPr bwMode="auto">
          <a:xfrm>
            <a:off x="231492" y="1747776"/>
            <a:ext cx="11609409"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buFont typeface="Arial" pitchFamily="34" charset="0"/>
              <a:buChar char="•"/>
            </a:pPr>
            <a:r>
              <a:rPr lang="en-US" dirty="0" smtClean="0">
                <a:latin typeface="Times New Roman" pitchFamily="18" charset="0"/>
                <a:cs typeface="Times New Roman" pitchFamily="18" charset="0"/>
              </a:rPr>
              <a:t>The study focuses on translating programs from C to Rust.</a:t>
            </a:r>
          </a:p>
          <a:p>
            <a:pPr algn="just">
              <a:buFont typeface="Arial" pitchFamily="34" charset="0"/>
              <a:buChar char="•"/>
            </a:pPr>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A set of C programs was used to evaluate the </a:t>
            </a:r>
            <a:r>
              <a:rPr lang="en-US" dirty="0" err="1" smtClean="0">
                <a:latin typeface="Times New Roman" pitchFamily="18" charset="0"/>
                <a:cs typeface="Times New Roman" pitchFamily="18" charset="0"/>
              </a:rPr>
              <a:t>transpilation</a:t>
            </a:r>
            <a:r>
              <a:rPr lang="en-US" dirty="0" smtClean="0">
                <a:latin typeface="Times New Roman" pitchFamily="18" charset="0"/>
                <a:cs typeface="Times New Roman" pitchFamily="18" charset="0"/>
              </a:rPr>
              <a:t> and repair process.</a:t>
            </a:r>
          </a:p>
          <a:p>
            <a:pPr algn="just">
              <a:buFont typeface="Arial" pitchFamily="34" charset="0"/>
              <a:buChar char="•"/>
            </a:pPr>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The generated Rust programs were compiled using the Rust compiler (</a:t>
            </a:r>
            <a:r>
              <a:rPr lang="en-US" dirty="0" err="1" smtClean="0">
                <a:latin typeface="Times New Roman" pitchFamily="18" charset="0"/>
                <a:cs typeface="Times New Roman" pitchFamily="18" charset="0"/>
              </a:rPr>
              <a:t>rustc</a:t>
            </a:r>
            <a:r>
              <a:rPr lang="en-US" dirty="0" smtClean="0">
                <a:latin typeface="Times New Roman" pitchFamily="18" charset="0"/>
                <a:cs typeface="Times New Roman" pitchFamily="18" charset="0"/>
              </a:rPr>
              <a:t>).</a:t>
            </a:r>
          </a:p>
          <a:p>
            <a:pPr algn="just">
              <a:buFont typeface="Arial" pitchFamily="34" charset="0"/>
              <a:buChar char="•"/>
            </a:pPr>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Compiler errors were used as feedback for repairing incorrect Rust code.</a:t>
            </a:r>
          </a:p>
          <a:p>
            <a:pPr algn="just">
              <a:buFont typeface="Arial" pitchFamily="34" charset="0"/>
              <a:buChar char="•"/>
            </a:pPr>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Few-shot repair examples were prepared for common Rust compiler errors.</a:t>
            </a:r>
          </a:p>
          <a:p>
            <a:pPr algn="just">
              <a:buFont typeface="Arial" pitchFamily="34" charset="0"/>
              <a:buChar char="•"/>
            </a:pPr>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Successfully compiled programs were executed with test cases to check runtime behavior and output correctness.</a:t>
            </a:r>
          </a:p>
          <a:p>
            <a:pPr algn="just">
              <a:buFont typeface="Arial" pitchFamily="34" charset="0"/>
              <a:buChar char="•"/>
            </a:pPr>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The evaluation also examined whether security vulnerabilities in the original C programs were preserved or removed in the Rust translations.</a:t>
            </a:r>
          </a:p>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204099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0" y="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15</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275909" y="31393"/>
            <a:ext cx="4198001"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smtClean="0">
                <a:latin typeface="Times New Roman" panose="02020603050405020304" pitchFamily="18" charset="0"/>
                <a:cs typeface="Times New Roman" panose="02020603050405020304" pitchFamily="18" charset="0"/>
              </a:rPr>
              <a:t>| key Results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03 –</a:t>
            </a:r>
            <a:r>
              <a:rPr lang="en-US" sz="1400" dirty="0" err="1" smtClean="0"/>
              <a:t>SafeTrans</a:t>
            </a:r>
            <a:r>
              <a:rPr lang="en-US" sz="1400" dirty="0" smtClean="0"/>
              <a:t>: LLM-assisted </a:t>
            </a:r>
            <a:r>
              <a:rPr lang="en-US" sz="1400" dirty="0" err="1" smtClean="0"/>
              <a:t>Transpilation</a:t>
            </a:r>
            <a:r>
              <a:rPr lang="en-US" sz="1400" dirty="0" smtClean="0"/>
              <a:t> from C to Rust</a:t>
            </a:r>
            <a:br>
              <a:rPr lang="en-US" sz="1400" dirty="0" smtClean="0"/>
            </a:br>
            <a:r>
              <a:rPr lang="en-US" sz="1400" dirty="0" smtClean="0"/>
              <a:t>Muhammad </a:t>
            </a:r>
            <a:r>
              <a:rPr lang="en-US" sz="1400" dirty="0" err="1" smtClean="0"/>
              <a:t>Farrukh</a:t>
            </a:r>
            <a:r>
              <a:rPr lang="en-US" sz="1400" i="1" dirty="0" smtClean="0"/>
              <a:t> et al., 2026 </a:t>
            </a:r>
            <a:endParaRPr lang="en-IN" sz="1400" dirty="0" smtClean="0"/>
          </a:p>
          <a:p>
            <a:endParaRPr lang="en-IN" sz="1400" dirty="0"/>
          </a:p>
        </p:txBody>
      </p:sp>
      <p:sp>
        <p:nvSpPr>
          <p:cNvPr id="10241" name="Rectangle 1"/>
          <p:cNvSpPr>
            <a:spLocks noChangeArrowheads="1"/>
          </p:cNvSpPr>
          <p:nvPr/>
        </p:nvSpPr>
        <p:spPr bwMode="auto">
          <a:xfrm>
            <a:off x="520862" y="1805651"/>
            <a:ext cx="10857052" cy="36933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err="1" smtClean="0">
                <a:latin typeface="Times New Roman" pitchFamily="18" charset="0"/>
                <a:cs typeface="Times New Roman" pitchFamily="18" charset="0"/>
              </a:rPr>
              <a:t>SafeTrans</a:t>
            </a:r>
            <a:r>
              <a:rPr lang="en-US" dirty="0" smtClean="0">
                <a:latin typeface="Times New Roman" pitchFamily="18" charset="0"/>
                <a:cs typeface="Times New Roman" pitchFamily="18" charset="0"/>
              </a:rPr>
              <a:t> improved the correctness of C → Rust translations through iterative compilation and repair.</a:t>
            </a:r>
          </a:p>
          <a:p>
            <a:pPr lvl="0" algn="just" fontAlgn="base">
              <a:spcBef>
                <a:spcPct val="0"/>
              </a:spcBef>
              <a:spcAft>
                <a:spcPct val="0"/>
              </a:spcAft>
            </a:pPr>
            <a:r>
              <a:rPr lang="en-US" dirty="0" smtClean="0">
                <a:latin typeface="Times New Roman" pitchFamily="18" charset="0"/>
                <a:cs typeface="Times New Roman" pitchFamily="18" charset="0"/>
              </a:rPr>
              <a:t> </a:t>
            </a: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Guided repair using examples for common Rust compiler errors was more effective than using raw compiler messages alone.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Runtime testing helped identify errors that were not detected during compilation.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The iterative repair process improved the final translated programs by addressing both compilation and runtime errors.</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The security analysis showed that translating C code to Rust does not automatically remove all security vulnerabilities, highlighting the need for additional validation</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a:t>
            </a:r>
          </a:p>
        </p:txBody>
      </p:sp>
    </p:spTree>
    <p:extLst>
      <p:ext uri="{BB962C8B-B14F-4D97-AF65-F5344CB8AC3E}">
        <p14:creationId xmlns="" xmlns:p14="http://schemas.microsoft.com/office/powerpoint/2010/main" val="877517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16</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310640" y="42968"/>
            <a:ext cx="4417919"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smtClean="0">
                <a:latin typeface="Times New Roman" panose="02020603050405020304" pitchFamily="18" charset="0"/>
                <a:cs typeface="Times New Roman" panose="02020603050405020304" pitchFamily="18" charset="0"/>
              </a:rPr>
              <a:t>| Strengths &amp; Limitations | </a:t>
            </a:r>
            <a:r>
              <a:rPr lang="en-IN" sz="1400" dirty="0" smtClean="0">
                <a:solidFill>
                  <a:schemeClr val="bg1">
                    <a:lumMod val="75000"/>
                  </a:schemeClr>
                </a:solidFill>
                <a:latin typeface="Times New Roman" panose="02020603050405020304" pitchFamily="18" charset="0"/>
                <a:cs typeface="Times New Roman" panose="02020603050405020304" pitchFamily="18" charset="0"/>
              </a:rPr>
              <a:t>Relevance to my research |</a:t>
            </a:r>
            <a:endParaRPr lang="en-IN" sz="14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03 –</a:t>
            </a:r>
            <a:r>
              <a:rPr lang="en-US" sz="1400" dirty="0" err="1" smtClean="0"/>
              <a:t>SafeTrans</a:t>
            </a:r>
            <a:r>
              <a:rPr lang="en-US" sz="1400" dirty="0" smtClean="0"/>
              <a:t>: LLM-assisted </a:t>
            </a:r>
            <a:r>
              <a:rPr lang="en-US" sz="1400" dirty="0" err="1" smtClean="0"/>
              <a:t>Transpilation</a:t>
            </a:r>
            <a:r>
              <a:rPr lang="en-US" sz="1400" dirty="0" smtClean="0"/>
              <a:t> from C to Rust</a:t>
            </a:r>
            <a:br>
              <a:rPr lang="en-US" sz="1400" dirty="0" smtClean="0"/>
            </a:br>
            <a:r>
              <a:rPr lang="en-US" sz="1400" dirty="0" smtClean="0"/>
              <a:t>Muhammad </a:t>
            </a:r>
            <a:r>
              <a:rPr lang="en-US" sz="1400" dirty="0" err="1" smtClean="0"/>
              <a:t>Farrukh</a:t>
            </a:r>
            <a:r>
              <a:rPr lang="en-US" sz="1400" i="1" dirty="0" smtClean="0"/>
              <a:t> et al., 2026 </a:t>
            </a:r>
            <a:endParaRPr lang="en-IN" sz="1400" dirty="0" smtClean="0"/>
          </a:p>
          <a:p>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lnSpc>
                <a:spcPct val="105000"/>
              </a:lnSpc>
              <a:buFont typeface="Arial" pitchFamily="34" charset="0"/>
              <a:buChar char="•"/>
            </a:pPr>
            <a:r>
              <a:rPr lang="en-US" dirty="0" err="1" smtClean="0">
                <a:solidFill>
                  <a:schemeClr val="dk1"/>
                </a:solidFill>
                <a:latin typeface="Times New Roman" pitchFamily="18" charset="0"/>
                <a:ea typeface="Calibri"/>
                <a:cs typeface="Times New Roman" pitchFamily="18" charset="0"/>
                <a:sym typeface="Calibri"/>
              </a:rPr>
              <a:t>SafeTrans</a:t>
            </a:r>
            <a:r>
              <a:rPr lang="en-US" dirty="0" smtClean="0">
                <a:solidFill>
                  <a:schemeClr val="dk1"/>
                </a:solidFill>
                <a:latin typeface="Times New Roman" pitchFamily="18" charset="0"/>
                <a:ea typeface="Calibri"/>
                <a:cs typeface="Times New Roman" pitchFamily="18" charset="0"/>
                <a:sym typeface="Calibri"/>
              </a:rPr>
              <a:t> is directly relevant because it studies LLM-based translation into Rust. It provides a clear compile – repair–validate loop and demonstrates that iterative correction can improve translation success.</a:t>
            </a:r>
            <a:endParaRPr lang="en-US"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The few-shot guided repair approach gives the model contextual information and examples for specific error categories. This is useful for difficult Rust compiler failures where simply passing the raw error message may not be sufficient.</a:t>
            </a:r>
            <a:endParaRPr lang="en-US" dirty="0" smtClean="0">
              <a:latin typeface="Times New Roman" pitchFamily="18" charset="0"/>
              <a:cs typeface="Times New Roman" pitchFamily="18" charset="0"/>
            </a:endParaRPr>
          </a:p>
          <a:p>
            <a:pPr lvl="0" algn="just">
              <a:lnSpc>
                <a:spcPct val="105000"/>
              </a:lnSpc>
              <a:spcBef>
                <a:spcPts val="900"/>
              </a:spcBef>
              <a:buFont typeface="Arial" pitchFamily="34" charset="0"/>
              <a:buChar char="•"/>
            </a:pPr>
            <a:r>
              <a:rPr lang="en-US" dirty="0" smtClean="0">
                <a:solidFill>
                  <a:schemeClr val="dk1"/>
                </a:solidFill>
                <a:latin typeface="Times New Roman" pitchFamily="18" charset="0"/>
                <a:ea typeface="Calibri"/>
                <a:cs typeface="Times New Roman" pitchFamily="18" charset="0"/>
                <a:sym typeface="Calibri"/>
              </a:rPr>
              <a:t>The paper also considers security implications rather than evaluating only compilation and functional correctness.</a:t>
            </a:r>
            <a:endParaRPr lang="en-US" dirty="0">
              <a:latin typeface="Times New Roman" pitchFamily="18" charset="0"/>
              <a:cs typeface="Times New Roman" pitchFamily="18" charset="0"/>
            </a:endParaRPr>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lnSpc>
                <a:spcPct val="105000"/>
              </a:lnSpc>
              <a:buFont typeface="Arial" pitchFamily="34" charset="0"/>
              <a:buChar char="•"/>
            </a:pPr>
            <a:r>
              <a:rPr lang="en-US" dirty="0" err="1" smtClean="0">
                <a:solidFill>
                  <a:schemeClr val="dk1"/>
                </a:solidFill>
                <a:ea typeface="Calibri"/>
                <a:cs typeface="Calibri"/>
                <a:sym typeface="Calibri"/>
              </a:rPr>
              <a:t>SafeTrans</a:t>
            </a:r>
            <a:r>
              <a:rPr lang="en-US" dirty="0" smtClean="0">
                <a:solidFill>
                  <a:schemeClr val="dk1"/>
                </a:solidFill>
                <a:ea typeface="Calibri"/>
                <a:cs typeface="Calibri"/>
                <a:sym typeface="Calibri"/>
              </a:rPr>
              <a:t> focuses on C-to-Rust, while our project focuses on Python-to-Rust. The source languages have different programming models, so the repair knowledge cannot be transferred directly.</a:t>
            </a:r>
            <a:endParaRPr lang="en-US" dirty="0" smtClean="0"/>
          </a:p>
          <a:p>
            <a:pPr lvl="0" algn="just">
              <a:lnSpc>
                <a:spcPct val="105000"/>
              </a:lnSpc>
              <a:spcBef>
                <a:spcPts val="900"/>
              </a:spcBef>
              <a:buFont typeface="Arial" pitchFamily="34" charset="0"/>
              <a:buChar char="•"/>
            </a:pPr>
            <a:r>
              <a:rPr lang="en-US" dirty="0" smtClean="0">
                <a:solidFill>
                  <a:schemeClr val="dk1"/>
                </a:solidFill>
                <a:ea typeface="Calibri"/>
                <a:cs typeface="Calibri"/>
                <a:sym typeface="Calibri"/>
              </a:rPr>
              <a:t>The study also shows that compiler feedback alone is insufficient for some translation errors. This means our project needs semantic testing and behavioral comparison in addition to compilation checks.</a:t>
            </a:r>
            <a:endParaRPr lang="en-US" dirty="0" smtClean="0"/>
          </a:p>
          <a:p>
            <a:pPr lvl="0" algn="just">
              <a:lnSpc>
                <a:spcPct val="105000"/>
              </a:lnSpc>
              <a:spcBef>
                <a:spcPts val="900"/>
              </a:spcBef>
              <a:buFont typeface="Arial" pitchFamily="34" charset="0"/>
              <a:buChar char="•"/>
            </a:pPr>
            <a:r>
              <a:rPr lang="en-US" dirty="0" smtClean="0">
                <a:solidFill>
                  <a:schemeClr val="dk1"/>
                </a:solidFill>
                <a:ea typeface="Calibri"/>
                <a:cs typeface="Calibri"/>
                <a:sym typeface="Calibri"/>
              </a:rPr>
              <a:t>Another limitation is that successful tests and compilation do not guarantee that every security problem has disappeared from the translated program.</a:t>
            </a:r>
            <a:endParaRPr lang="en-US" dirty="0"/>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smtClean="0">
                <a:latin typeface="Times New Roman" panose="02020603050405020304" pitchFamily="18" charset="0"/>
                <a:cs typeface="Times New Roman" panose="02020603050405020304" pitchFamily="18" charset="0"/>
              </a:rPr>
              <a:t>Strengths</a:t>
            </a:r>
            <a:endParaRPr lang="en-IN"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smtClean="0">
                <a:latin typeface="Times New Roman" panose="02020603050405020304" pitchFamily="18" charset="0"/>
                <a:cs typeface="Times New Roman" panose="02020603050405020304" pitchFamily="18" charset="0"/>
              </a:rPr>
              <a:t>Limitations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598163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17</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310641" y="31393"/>
            <a:ext cx="4406344"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17" name="TextBox 16">
            <a:extLst>
              <a:ext uri="{FF2B5EF4-FFF2-40B4-BE49-F238E27FC236}">
                <a16:creationId xmlns=""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smtClean="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smtClean="0">
                <a:latin typeface="Times New Roman" panose="02020603050405020304" pitchFamily="18" charset="0"/>
                <a:cs typeface="Times New Roman" panose="02020603050405020304" pitchFamily="18" charset="0"/>
              </a:rPr>
              <a:t>| Relevance to my research |</a:t>
            </a:r>
            <a:endParaRPr lang="en-IN" sz="1400" dirty="0">
              <a:latin typeface="Times New Roman" panose="02020603050405020304" pitchFamily="18" charset="0"/>
              <a:cs typeface="Times New Roman" panose="02020603050405020304" pitchFamily="18" charset="0"/>
            </a:endParaRPr>
          </a:p>
        </p:txBody>
      </p:sp>
      <p:sp>
        <p:nvSpPr>
          <p:cNvPr id="6" name="Rectangle 5"/>
          <p:cNvSpPr/>
          <p:nvPr/>
        </p:nvSpPr>
        <p:spPr>
          <a:xfrm>
            <a:off x="2082799" y="862390"/>
            <a:ext cx="10020709" cy="738664"/>
          </a:xfrm>
          <a:prstGeom prst="rect">
            <a:avLst/>
          </a:prstGeom>
        </p:spPr>
        <p:txBody>
          <a:bodyPr wrap="square">
            <a:spAutoFit/>
          </a:bodyPr>
          <a:lstStyle/>
          <a:p>
            <a:r>
              <a:rPr lang="en-US" sz="1400" b="1" dirty="0" smtClean="0"/>
              <a:t>Ref 03 –</a:t>
            </a:r>
            <a:r>
              <a:rPr lang="en-US" sz="1400" dirty="0" err="1" smtClean="0"/>
              <a:t>SafeTrans</a:t>
            </a:r>
            <a:r>
              <a:rPr lang="en-US" sz="1400" dirty="0" smtClean="0"/>
              <a:t>: LLM-assisted </a:t>
            </a:r>
            <a:r>
              <a:rPr lang="en-US" sz="1400" dirty="0" err="1" smtClean="0"/>
              <a:t>Transpilation</a:t>
            </a:r>
            <a:r>
              <a:rPr lang="en-US" sz="1400" dirty="0" smtClean="0"/>
              <a:t> from C to Rust</a:t>
            </a:r>
            <a:br>
              <a:rPr lang="en-US" sz="1400" dirty="0" smtClean="0"/>
            </a:br>
            <a:r>
              <a:rPr lang="en-US" sz="1400" dirty="0" smtClean="0"/>
              <a:t>Muhammad </a:t>
            </a:r>
            <a:r>
              <a:rPr lang="en-US" sz="1400" dirty="0" err="1" smtClean="0"/>
              <a:t>Farrukh</a:t>
            </a:r>
            <a:r>
              <a:rPr lang="en-US" sz="1400" i="1" dirty="0" smtClean="0"/>
              <a:t> et al., 2026 </a:t>
            </a:r>
            <a:endParaRPr lang="en-IN" sz="1400" dirty="0" smtClean="0"/>
          </a:p>
          <a:p>
            <a:endParaRPr lang="en-IN" sz="1400" dirty="0"/>
          </a:p>
        </p:txBody>
      </p:sp>
      <p:sp>
        <p:nvSpPr>
          <p:cNvPr id="6145" name="Rectangle 1"/>
          <p:cNvSpPr>
            <a:spLocks noChangeArrowheads="1"/>
          </p:cNvSpPr>
          <p:nvPr/>
        </p:nvSpPr>
        <p:spPr bwMode="auto">
          <a:xfrm>
            <a:off x="254642" y="1319515"/>
            <a:ext cx="11424213" cy="50783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err="1" smtClean="0">
                <a:latin typeface="Times New Roman" pitchFamily="18" charset="0"/>
                <a:cs typeface="Times New Roman" pitchFamily="18" charset="0"/>
              </a:rPr>
              <a:t>SafeTrans</a:t>
            </a:r>
            <a:r>
              <a:rPr lang="en-US" dirty="0" smtClean="0">
                <a:latin typeface="Times New Roman" pitchFamily="18" charset="0"/>
                <a:cs typeface="Times New Roman" pitchFamily="18" charset="0"/>
              </a:rPr>
              <a:t> directly supports our idea of using an iterative process of translation, compilation, repair, and validation.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Its use of compiler feedback motivates our approach of using Rust compiler errors to guide the correction of generated code.</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 Its runtime validation supports our use of test execution to identify errors that compilation alone cannot detect.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err="1" smtClean="0">
                <a:latin typeface="Times New Roman" pitchFamily="18" charset="0"/>
                <a:cs typeface="Times New Roman" pitchFamily="18" charset="0"/>
              </a:rPr>
              <a:t>SafeTrans</a:t>
            </a:r>
            <a:r>
              <a:rPr lang="en-US" dirty="0" smtClean="0">
                <a:latin typeface="Times New Roman" pitchFamily="18" charset="0"/>
                <a:cs typeface="Times New Roman" pitchFamily="18" charset="0"/>
              </a:rPr>
              <a:t> uses predefined repair instructions for common Rust errors, whereas our project aims to use an </a:t>
            </a:r>
            <a:r>
              <a:rPr lang="en-US" dirty="0" err="1" smtClean="0">
                <a:latin typeface="Times New Roman" pitchFamily="18" charset="0"/>
                <a:cs typeface="Times New Roman" pitchFamily="18" charset="0"/>
              </a:rPr>
              <a:t>agentic</a:t>
            </a:r>
            <a:r>
              <a:rPr lang="en-US" dirty="0" smtClean="0">
                <a:latin typeface="Times New Roman" pitchFamily="18" charset="0"/>
                <a:cs typeface="Times New Roman" pitchFamily="18" charset="0"/>
              </a:rPr>
              <a:t> approach that can dynamically interpret different compiler and runtime errors.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err="1" smtClean="0">
                <a:latin typeface="Times New Roman" pitchFamily="18" charset="0"/>
                <a:cs typeface="Times New Roman" pitchFamily="18" charset="0"/>
              </a:rPr>
              <a:t>SafeTrans</a:t>
            </a:r>
            <a:r>
              <a:rPr lang="en-US" dirty="0" smtClean="0">
                <a:latin typeface="Times New Roman" pitchFamily="18" charset="0"/>
                <a:cs typeface="Times New Roman" pitchFamily="18" charset="0"/>
              </a:rPr>
              <a:t> focuses on C → Rust translation, while our project focuses on Python → Rust translation.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Our project further uses differential testing by comparing the behavior of the original Python program with the generated Rust program on the same inputs. </a:t>
            </a:r>
          </a:p>
          <a:p>
            <a:pPr lvl="0" algn="just" fontAlgn="base">
              <a:spcBef>
                <a:spcPct val="0"/>
              </a:spcBef>
              <a:spcAft>
                <a:spcPct val="0"/>
              </a:spcAft>
            </a:pPr>
            <a:endParaRPr lang="en-US" dirty="0" smtClean="0">
              <a:latin typeface="Times New Roman" pitchFamily="18" charset="0"/>
              <a:cs typeface="Times New Roman" pitchFamily="18" charset="0"/>
            </a:endParaRPr>
          </a:p>
          <a:p>
            <a:pPr lvl="0" algn="just" fontAlgn="base">
              <a:spcBef>
                <a:spcPct val="0"/>
              </a:spcBef>
              <a:spcAft>
                <a:spcPct val="0"/>
              </a:spcAft>
              <a:buFont typeface="Arial" pitchFamily="34" charset="0"/>
              <a:buChar char="•"/>
            </a:pPr>
            <a:r>
              <a:rPr lang="en-US" dirty="0" smtClean="0">
                <a:latin typeface="Times New Roman" pitchFamily="18" charset="0"/>
                <a:cs typeface="Times New Roman" pitchFamily="18" charset="0"/>
              </a:rPr>
              <a:t>Thus, </a:t>
            </a:r>
            <a:r>
              <a:rPr lang="en-US" dirty="0" err="1" smtClean="0">
                <a:latin typeface="Times New Roman" pitchFamily="18" charset="0"/>
                <a:cs typeface="Times New Roman" pitchFamily="18" charset="0"/>
              </a:rPr>
              <a:t>SafeTrans</a:t>
            </a:r>
            <a:r>
              <a:rPr lang="en-US" dirty="0" smtClean="0">
                <a:latin typeface="Times New Roman" pitchFamily="18" charset="0"/>
                <a:cs typeface="Times New Roman" pitchFamily="18" charset="0"/>
              </a:rPr>
              <a:t> provides the foundation for the compile-and-repair loop, while our project extends it with dynamic agents and behavioral comparison for Python → Rust translation.</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a:t>
            </a:r>
          </a:p>
        </p:txBody>
      </p:sp>
    </p:spTree>
    <p:extLst>
      <p:ext uri="{BB962C8B-B14F-4D97-AF65-F5344CB8AC3E}">
        <p14:creationId xmlns="" xmlns:p14="http://schemas.microsoft.com/office/powerpoint/2010/main" val="3867205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18</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Literature Review - Summary</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299091" y="31393"/>
            <a:ext cx="5320744"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graphicFrame>
        <p:nvGraphicFramePr>
          <p:cNvPr id="7" name="Table 6"/>
          <p:cNvGraphicFramePr>
            <a:graphicFrameLocks noGrp="1"/>
          </p:cNvGraphicFramePr>
          <p:nvPr>
            <p:extLst>
              <p:ext uri="{D42A27DB-BD31-4B8C-83A1-F6EECF244321}">
                <p14:modId xmlns="" xmlns:p14="http://schemas.microsoft.com/office/powerpoint/2010/main" val="537275194"/>
              </p:ext>
            </p:extLst>
          </p:nvPr>
        </p:nvGraphicFramePr>
        <p:xfrm>
          <a:off x="582592" y="1437294"/>
          <a:ext cx="10887920" cy="4454220"/>
        </p:xfrm>
        <a:graphic>
          <a:graphicData uri="http://schemas.openxmlformats.org/drawingml/2006/table">
            <a:tbl>
              <a:tblPr firstRow="1" bandRow="1">
                <a:tableStyleId>{5940675A-B579-460E-94D1-54222C63F5DA}</a:tableStyleId>
              </a:tblPr>
              <a:tblGrid>
                <a:gridCol w="1859666"/>
                <a:gridCol w="1632031"/>
                <a:gridCol w="3041055"/>
                <a:gridCol w="2177584"/>
                <a:gridCol w="2177584"/>
              </a:tblGrid>
              <a:tr h="728798">
                <a:tc>
                  <a:txBody>
                    <a:bodyPr/>
                    <a:lstStyle/>
                    <a:p>
                      <a:pPr algn="ctr"/>
                      <a:r>
                        <a:rPr lang="en-IN" sz="1600" dirty="0" smtClean="0">
                          <a:latin typeface="Times New Roman" pitchFamily="18" charset="0"/>
                          <a:cs typeface="Times New Roman" pitchFamily="18" charset="0"/>
                        </a:rPr>
                        <a:t>Reference</a:t>
                      </a:r>
                      <a:endParaRPr lang="en-IN" sz="1600" dirty="0">
                        <a:latin typeface="Times New Roman" pitchFamily="18" charset="0"/>
                        <a:cs typeface="Times New Roman" pitchFamily="18" charset="0"/>
                      </a:endParaRPr>
                    </a:p>
                  </a:txBody>
                  <a:tcPr anchor="ctr">
                    <a:solidFill>
                      <a:schemeClr val="bg1">
                        <a:lumMod val="85000"/>
                      </a:schemeClr>
                    </a:solidFill>
                  </a:tcPr>
                </a:tc>
                <a:tc>
                  <a:txBody>
                    <a:bodyPr/>
                    <a:lstStyle/>
                    <a:p>
                      <a:pPr algn="ctr"/>
                      <a:r>
                        <a:rPr lang="en-IN" sz="1600" dirty="0" smtClean="0">
                          <a:latin typeface="Times New Roman" pitchFamily="18" charset="0"/>
                          <a:cs typeface="Times New Roman" pitchFamily="18" charset="0"/>
                        </a:rPr>
                        <a:t>Year</a:t>
                      </a:r>
                      <a:endParaRPr lang="en-IN" sz="1600" dirty="0">
                        <a:latin typeface="Times New Roman" pitchFamily="18" charset="0"/>
                        <a:cs typeface="Times New Roman" pitchFamily="18" charset="0"/>
                      </a:endParaRPr>
                    </a:p>
                  </a:txBody>
                  <a:tcPr anchor="ctr">
                    <a:solidFill>
                      <a:schemeClr val="bg1">
                        <a:lumMod val="85000"/>
                      </a:schemeClr>
                    </a:solidFill>
                  </a:tcPr>
                </a:tc>
                <a:tc>
                  <a:txBody>
                    <a:bodyPr/>
                    <a:lstStyle/>
                    <a:p>
                      <a:pPr algn="ctr"/>
                      <a:r>
                        <a:rPr lang="en-IN" sz="1600" dirty="0" smtClean="0">
                          <a:latin typeface="Times New Roman" pitchFamily="18" charset="0"/>
                          <a:cs typeface="Times New Roman" pitchFamily="18" charset="0"/>
                        </a:rPr>
                        <a:t>Main Idea</a:t>
                      </a:r>
                      <a:endParaRPr lang="en-IN" sz="1600" dirty="0">
                        <a:latin typeface="Times New Roman" pitchFamily="18" charset="0"/>
                        <a:cs typeface="Times New Roman" pitchFamily="18" charset="0"/>
                      </a:endParaRPr>
                    </a:p>
                  </a:txBody>
                  <a:tcPr anchor="ctr">
                    <a:solidFill>
                      <a:schemeClr val="bg1">
                        <a:lumMod val="85000"/>
                      </a:schemeClr>
                    </a:solidFill>
                  </a:tcPr>
                </a:tc>
                <a:tc>
                  <a:txBody>
                    <a:bodyPr/>
                    <a:lstStyle/>
                    <a:p>
                      <a:pPr algn="ctr"/>
                      <a:r>
                        <a:rPr lang="en-IN" sz="1600" dirty="0" smtClean="0">
                          <a:latin typeface="Times New Roman" pitchFamily="18" charset="0"/>
                          <a:cs typeface="Times New Roman" pitchFamily="18" charset="0"/>
                        </a:rPr>
                        <a:t>Strengths</a:t>
                      </a:r>
                      <a:endParaRPr lang="en-IN" sz="1600" dirty="0">
                        <a:latin typeface="Times New Roman" pitchFamily="18" charset="0"/>
                        <a:cs typeface="Times New Roman" pitchFamily="18" charset="0"/>
                      </a:endParaRPr>
                    </a:p>
                  </a:txBody>
                  <a:tcPr anchor="ctr">
                    <a:solidFill>
                      <a:schemeClr val="bg1">
                        <a:lumMod val="85000"/>
                      </a:schemeClr>
                    </a:solidFill>
                  </a:tcPr>
                </a:tc>
                <a:tc>
                  <a:txBody>
                    <a:bodyPr/>
                    <a:lstStyle/>
                    <a:p>
                      <a:pPr algn="ctr"/>
                      <a:r>
                        <a:rPr lang="en-IN" sz="1600" dirty="0" smtClean="0">
                          <a:latin typeface="Times New Roman" pitchFamily="18" charset="0"/>
                          <a:cs typeface="Times New Roman" pitchFamily="18" charset="0"/>
                        </a:rPr>
                        <a:t>Limitations</a:t>
                      </a:r>
                      <a:endParaRPr lang="en-IN" sz="1600" dirty="0">
                        <a:latin typeface="Times New Roman" pitchFamily="18" charset="0"/>
                        <a:cs typeface="Times New Roman" pitchFamily="18" charset="0"/>
                      </a:endParaRPr>
                    </a:p>
                  </a:txBody>
                  <a:tcPr anchor="ctr">
                    <a:solidFill>
                      <a:schemeClr val="bg1">
                        <a:lumMod val="85000"/>
                      </a:schemeClr>
                    </a:solidFill>
                  </a:tcPr>
                </a:tc>
              </a:tr>
              <a:tr h="728798">
                <a:tc>
                  <a:txBody>
                    <a:bodyPr/>
                    <a:lstStyle/>
                    <a:p>
                      <a:r>
                        <a:rPr lang="en-US" sz="1600" dirty="0" err="1" smtClean="0">
                          <a:latin typeface="Times New Roman" pitchFamily="18" charset="0"/>
                          <a:cs typeface="Times New Roman" pitchFamily="18" charset="0"/>
                        </a:rPr>
                        <a:t>CoTran</a:t>
                      </a:r>
                      <a:r>
                        <a:rPr lang="en-US" sz="1600" dirty="0" smtClean="0">
                          <a:latin typeface="Times New Roman" pitchFamily="18" charset="0"/>
                          <a:cs typeface="Times New Roman" pitchFamily="18" charset="0"/>
                        </a:rPr>
                        <a:t> – </a:t>
                      </a:r>
                      <a:r>
                        <a:rPr lang="en-US" sz="1600" dirty="0" err="1" smtClean="0">
                          <a:latin typeface="Times New Roman" pitchFamily="18" charset="0"/>
                          <a:cs typeface="Times New Roman" pitchFamily="18" charset="0"/>
                        </a:rPr>
                        <a:t>Prithwish</a:t>
                      </a:r>
                      <a:r>
                        <a:rPr lang="en-US" sz="1600" dirty="0" smtClean="0">
                          <a:latin typeface="Times New Roman" pitchFamily="18" charset="0"/>
                          <a:cs typeface="Times New Roman" pitchFamily="18" charset="0"/>
                        </a:rPr>
                        <a:t> Jana et al.</a:t>
                      </a:r>
                      <a:endParaRPr lang="en-IN" sz="1600" dirty="0">
                        <a:latin typeface="Times New Roman" pitchFamily="18" charset="0"/>
                        <a:cs typeface="Times New Roman" pitchFamily="18" charset="0"/>
                      </a:endParaRPr>
                    </a:p>
                  </a:txBody>
                  <a:tcPr anchor="ctr"/>
                </a:tc>
                <a:tc>
                  <a:txBody>
                    <a:bodyPr/>
                    <a:lstStyle/>
                    <a:p>
                      <a:pPr algn="ctr"/>
                      <a:r>
                        <a:rPr lang="en-IN" sz="1600" dirty="0" smtClean="0">
                          <a:latin typeface="Times New Roman" pitchFamily="18" charset="0"/>
                          <a:cs typeface="Times New Roman" pitchFamily="18" charset="0"/>
                        </a:rPr>
                        <a:t>2024</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Uses RL and compiler/symbolic feedback for code translation.</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Improves translation correctness.</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Needs model training and high computation.</a:t>
                      </a:r>
                      <a:endParaRPr lang="en-IN" sz="1600" dirty="0">
                        <a:latin typeface="Times New Roman" pitchFamily="18" charset="0"/>
                        <a:cs typeface="Times New Roman" pitchFamily="18" charset="0"/>
                      </a:endParaRPr>
                    </a:p>
                  </a:txBody>
                  <a:tcPr anchor="ctr"/>
                </a:tc>
              </a:tr>
              <a:tr h="728798">
                <a:tc>
                  <a:txBody>
                    <a:bodyPr/>
                    <a:lstStyle/>
                    <a:p>
                      <a:r>
                        <a:rPr lang="en-US" sz="1600" dirty="0" err="1" smtClean="0">
                          <a:latin typeface="Times New Roman" pitchFamily="18" charset="0"/>
                          <a:cs typeface="Times New Roman" pitchFamily="18" charset="0"/>
                        </a:rPr>
                        <a:t>TransAgent</a:t>
                      </a:r>
                      <a:r>
                        <a:rPr lang="en-US" sz="1600" dirty="0" smtClean="0">
                          <a:latin typeface="Times New Roman" pitchFamily="18" charset="0"/>
                          <a:cs typeface="Times New Roman" pitchFamily="18" charset="0"/>
                        </a:rPr>
                        <a:t> – </a:t>
                      </a:r>
                      <a:r>
                        <a:rPr lang="en-US" sz="1600" dirty="0" err="1" smtClean="0">
                          <a:latin typeface="Times New Roman" pitchFamily="18" charset="0"/>
                          <a:cs typeface="Times New Roman" pitchFamily="18" charset="0"/>
                        </a:rPr>
                        <a:t>Zhiqiang</a:t>
                      </a:r>
                      <a:r>
                        <a:rPr lang="en-US" sz="1600" dirty="0" smtClean="0">
                          <a:latin typeface="Times New Roman" pitchFamily="18" charset="0"/>
                          <a:cs typeface="Times New Roman" pitchFamily="18" charset="0"/>
                        </a:rPr>
                        <a:t> Yuan et al.</a:t>
                      </a:r>
                      <a:endParaRPr lang="en-IN" sz="1600" dirty="0">
                        <a:latin typeface="Times New Roman" pitchFamily="18" charset="0"/>
                        <a:cs typeface="Times New Roman" pitchFamily="18" charset="0"/>
                      </a:endParaRPr>
                    </a:p>
                  </a:txBody>
                  <a:tcPr anchor="ctr"/>
                </a:tc>
                <a:tc>
                  <a:txBody>
                    <a:bodyPr/>
                    <a:lstStyle/>
                    <a:p>
                      <a:pPr algn="ctr"/>
                      <a:r>
                        <a:rPr lang="en-IN" sz="1600" dirty="0" smtClean="0">
                          <a:latin typeface="Times New Roman" pitchFamily="18" charset="0"/>
                          <a:cs typeface="Times New Roman" pitchFamily="18" charset="0"/>
                        </a:rPr>
                        <a:t>2026</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Uses multiple agents to detect and fix translation errors.</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Finds and repairs errors step by step.</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More complex and requires execution analysis.</a:t>
                      </a:r>
                      <a:endParaRPr lang="en-IN" sz="1600" dirty="0">
                        <a:latin typeface="Times New Roman" pitchFamily="18" charset="0"/>
                        <a:cs typeface="Times New Roman" pitchFamily="18" charset="0"/>
                      </a:endParaRPr>
                    </a:p>
                  </a:txBody>
                  <a:tcPr anchor="ctr"/>
                </a:tc>
              </a:tr>
              <a:tr h="728798">
                <a:tc>
                  <a:txBody>
                    <a:bodyPr/>
                    <a:lstStyle/>
                    <a:p>
                      <a:r>
                        <a:rPr lang="da-DK" sz="1600" dirty="0" smtClean="0">
                          <a:latin typeface="Times New Roman" pitchFamily="18" charset="0"/>
                          <a:cs typeface="Times New Roman" pitchFamily="18" charset="0"/>
                        </a:rPr>
                        <a:t>SafeTrans – Muhammad Farrukh et al.</a:t>
                      </a:r>
                      <a:endParaRPr lang="en-IN" sz="1600" dirty="0">
                        <a:latin typeface="Times New Roman" pitchFamily="18" charset="0"/>
                        <a:cs typeface="Times New Roman" pitchFamily="18" charset="0"/>
                      </a:endParaRPr>
                    </a:p>
                  </a:txBody>
                  <a:tcPr anchor="ctr"/>
                </a:tc>
                <a:tc>
                  <a:txBody>
                    <a:bodyPr/>
                    <a:lstStyle/>
                    <a:p>
                      <a:pPr algn="ctr"/>
                      <a:r>
                        <a:rPr lang="en-IN" sz="1600" dirty="0" smtClean="0">
                          <a:latin typeface="Times New Roman" pitchFamily="18" charset="0"/>
                          <a:cs typeface="Times New Roman" pitchFamily="18" charset="0"/>
                        </a:rPr>
                        <a:t>2026</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Uses </a:t>
                      </a:r>
                      <a:r>
                        <a:rPr lang="en-US" sz="1600" dirty="0" err="1" smtClean="0">
                          <a:latin typeface="Times New Roman" pitchFamily="18" charset="0"/>
                          <a:cs typeface="Times New Roman" pitchFamily="18" charset="0"/>
                        </a:rPr>
                        <a:t>Transpile</a:t>
                      </a:r>
                      <a:r>
                        <a:rPr lang="en-US" sz="1600" dirty="0" smtClean="0">
                          <a:latin typeface="Times New Roman" pitchFamily="18" charset="0"/>
                          <a:cs typeface="Times New Roman" pitchFamily="18" charset="0"/>
                        </a:rPr>
                        <a:t> → Compile → Repair → Validate for C → Rust.</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Uses compiler and runtime feedback.</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Focused mainly on C → Rust and uses predefined repair guidance.</a:t>
                      </a:r>
                      <a:endParaRPr lang="en-IN" sz="1600" dirty="0">
                        <a:latin typeface="Times New Roman" pitchFamily="18" charset="0"/>
                        <a:cs typeface="Times New Roman" pitchFamily="18" charset="0"/>
                      </a:endParaRPr>
                    </a:p>
                  </a:txBody>
                  <a:tcPr anchor="ctr"/>
                </a:tc>
              </a:tr>
              <a:tr h="1106864">
                <a:tc>
                  <a:txBody>
                    <a:bodyPr/>
                    <a:lstStyle/>
                    <a:p>
                      <a:r>
                        <a:rPr lang="da-DK" sz="1600" smtClean="0">
                          <a:latin typeface="Times New Roman" pitchFamily="18" charset="0"/>
                          <a:cs typeface="Times New Roman" pitchFamily="18" charset="0"/>
                        </a:rPr>
                        <a:t>LEGO-Compiler – Shuoming Zhang et al.</a:t>
                      </a:r>
                      <a:endParaRPr lang="en-IN" sz="1600" dirty="0">
                        <a:latin typeface="Times New Roman" pitchFamily="18" charset="0"/>
                        <a:cs typeface="Times New Roman" pitchFamily="18" charset="0"/>
                      </a:endParaRPr>
                    </a:p>
                  </a:txBody>
                  <a:tcPr anchor="ctr"/>
                </a:tc>
                <a:tc>
                  <a:txBody>
                    <a:bodyPr/>
                    <a:lstStyle/>
                    <a:p>
                      <a:pPr algn="ctr"/>
                      <a:r>
                        <a:rPr lang="en-IN" sz="1600" dirty="0" smtClean="0">
                          <a:latin typeface="Times New Roman" pitchFamily="18" charset="0"/>
                          <a:cs typeface="Times New Roman" pitchFamily="18" charset="0"/>
                        </a:rPr>
                        <a:t>2025</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Uses modular translation and testing to improve code compilation.</a:t>
                      </a:r>
                      <a:endParaRPr lang="en-IN" sz="1600" dirty="0">
                        <a:latin typeface="Times New Roman" pitchFamily="18" charset="0"/>
                        <a:cs typeface="Times New Roman" pitchFamily="18" charset="0"/>
                      </a:endParaRPr>
                    </a:p>
                  </a:txBody>
                  <a:tcPr anchor="ctr"/>
                </a:tc>
                <a:tc>
                  <a:txBody>
                    <a:bodyPr/>
                    <a:lstStyle/>
                    <a:p>
                      <a:r>
                        <a:rPr lang="en-US" sz="1600" dirty="0" smtClean="0">
                          <a:latin typeface="Times New Roman" pitchFamily="18" charset="0"/>
                          <a:cs typeface="Times New Roman" pitchFamily="18" charset="0"/>
                        </a:rPr>
                        <a:t>Flexible and improves translation accuracy.</a:t>
                      </a:r>
                      <a:endParaRPr lang="en-IN" sz="1600" dirty="0">
                        <a:latin typeface="Times New Roman" pitchFamily="18" charset="0"/>
                        <a:cs typeface="Times New Roman" pitchFamily="18" charset="0"/>
                      </a:endParaRPr>
                    </a:p>
                  </a:txBody>
                  <a:tcPr anchor="ctr"/>
                </a:tc>
                <a:tc>
                  <a:txBody>
                    <a:bodyPr/>
                    <a:lstStyle/>
                    <a:p>
                      <a:r>
                        <a:rPr lang="en-US" sz="1600" smtClean="0">
                          <a:latin typeface="Times New Roman" pitchFamily="18" charset="0"/>
                          <a:cs typeface="Times New Roman" pitchFamily="18" charset="0"/>
                        </a:rPr>
                        <a:t>Mainly focuses on code-to-assembly translation.</a:t>
                      </a:r>
                      <a:endParaRPr lang="en-IN" sz="1600" dirty="0">
                        <a:latin typeface="Times New Roman" pitchFamily="18" charset="0"/>
                        <a:cs typeface="Times New Roman" pitchFamily="18" charset="0"/>
                      </a:endParaRPr>
                    </a:p>
                  </a:txBody>
                  <a:tcPr anchor="ctr"/>
                </a:tc>
              </a:tr>
            </a:tbl>
          </a:graphicData>
        </a:graphic>
      </p:graphicFrame>
    </p:spTree>
    <p:extLst>
      <p:ext uri="{BB962C8B-B14F-4D97-AF65-F5344CB8AC3E}">
        <p14:creationId xmlns="" xmlns:p14="http://schemas.microsoft.com/office/powerpoint/2010/main" val="108585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pPr/>
              <a:t>22-09-2026</a:t>
            </a:fld>
            <a:endParaRPr lang="en-IN" dirty="0">
              <a:solidFill>
                <a:schemeClr val="tx1"/>
              </a:solidFill>
            </a:endParaRPr>
          </a:p>
        </p:txBody>
      </p:sp>
      <p:sp>
        <p:nvSpPr>
          <p:cNvPr id="13" name="Slide Number Placeholder 12">
            <a:extLst>
              <a:ext uri="{FF2B5EF4-FFF2-40B4-BE49-F238E27FC236}">
                <a16:creationId xmlns=""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pPr/>
              <a:t>19</a:t>
            </a:fld>
            <a:endParaRPr lang="en-IN" sz="1800" dirty="0">
              <a:solidFill>
                <a:schemeClr val="tx1"/>
              </a:solidFill>
            </a:endParaRPr>
          </a:p>
        </p:txBody>
      </p:sp>
      <p:sp>
        <p:nvSpPr>
          <p:cNvPr id="15" name="TextBox 14">
            <a:extLst>
              <a:ext uri="{FF2B5EF4-FFF2-40B4-BE49-F238E27FC236}">
                <a16:creationId xmlns=""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smtClean="0">
                <a:latin typeface="Times New Roman" panose="02020603050405020304" pitchFamily="18" charset="0"/>
                <a:cs typeface="Times New Roman" panose="02020603050405020304" pitchFamily="18" charset="0"/>
              </a:rPr>
              <a:t>Review – 1 </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0EC79EE-C1C4-E275-0987-67B7B3A60CCB}"/>
              </a:ext>
            </a:extLst>
          </p:cNvPr>
          <p:cNvSpPr txBox="1"/>
          <p:nvPr/>
        </p:nvSpPr>
        <p:spPr>
          <a:xfrm>
            <a:off x="8287490" y="31393"/>
            <a:ext cx="4417919" cy="938719"/>
          </a:xfrm>
          <a:prstGeom prst="rect">
            <a:avLst/>
          </a:prstGeom>
          <a:noFill/>
        </p:spPr>
        <p:txBody>
          <a:bodyPr wrap="square" rtlCol="0">
            <a:spAutoFit/>
          </a:bodyPr>
          <a:lstStyle/>
          <a:p>
            <a:r>
              <a:rPr lang="en-IN" sz="1100" dirty="0" smtClean="0">
                <a:latin typeface="Times New Roman" panose="02020603050405020304" pitchFamily="18" charset="0"/>
                <a:cs typeface="Times New Roman" panose="02020603050405020304" pitchFamily="18" charset="0"/>
              </a:rPr>
              <a:t>Guide: </a:t>
            </a:r>
            <a:r>
              <a:rPr lang="en-US" sz="1100" dirty="0" smtClean="0">
                <a:latin typeface="Times New Roman" pitchFamily="18" charset="0"/>
                <a:cs typeface="Times New Roman" pitchFamily="18" charset="0"/>
              </a:rPr>
              <a:t>Dr. D </a:t>
            </a:r>
            <a:r>
              <a:rPr lang="en-US" sz="1100" dirty="0" err="1" smtClean="0">
                <a:latin typeface="Times New Roman" pitchFamily="18" charset="0"/>
                <a:cs typeface="Times New Roman" pitchFamily="18" charset="0"/>
              </a:rPr>
              <a:t>Murali</a:t>
            </a:r>
            <a:r>
              <a:rPr lang="en-US" sz="1100" dirty="0" smtClean="0">
                <a:latin typeface="Times New Roman" pitchFamily="18" charset="0"/>
                <a:cs typeface="Times New Roman" pitchFamily="18" charset="0"/>
              </a:rPr>
              <a:t> Krishna Reddy</a:t>
            </a:r>
            <a:endParaRPr lang="en-IN" sz="1100" dirty="0" smtClean="0">
              <a:latin typeface="Times New Roman" panose="02020603050405020304" pitchFamily="18" charset="0"/>
              <a:cs typeface="Times New Roman" panose="02020603050405020304" pitchFamily="18" charset="0"/>
            </a:endParaRPr>
          </a:p>
          <a:p>
            <a:r>
              <a:rPr lang="en-IN" sz="1100" dirty="0" smtClean="0">
                <a:latin typeface="Times New Roman" panose="02020603050405020304" pitchFamily="18" charset="0"/>
                <a:cs typeface="Times New Roman" panose="02020603050405020304" pitchFamily="18" charset="0"/>
              </a:rPr>
              <a:t>Batch ID:AIML-B14</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No#1 (TL),  23BQ1A6189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No#2,23BQ1A6186</a:t>
            </a:r>
          </a:p>
          <a:p>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No#3,           24BQ5A6129          </a:t>
            </a:r>
            <a:r>
              <a:rPr lang="en-IN" sz="1100" dirty="0" err="1" smtClean="0">
                <a:latin typeface="Times New Roman" panose="02020603050405020304" pitchFamily="18" charset="0"/>
                <a:cs typeface="Times New Roman" panose="02020603050405020304" pitchFamily="18" charset="0"/>
              </a:rPr>
              <a:t>Regd</a:t>
            </a:r>
            <a:r>
              <a:rPr lang="en-IN" sz="1100" dirty="0" smtClean="0">
                <a:latin typeface="Times New Roman" panose="02020603050405020304" pitchFamily="18" charset="0"/>
                <a:cs typeface="Times New Roman" panose="02020603050405020304" pitchFamily="18" charset="0"/>
              </a:rPr>
              <a:t> No#4,24BQ5A6108</a:t>
            </a:r>
            <a:endParaRPr lang="en-IN" sz="1100" dirty="0" smtClean="0"/>
          </a:p>
          <a:p>
            <a:endParaRPr lang="en-IN" sz="1100" dirty="0"/>
          </a:p>
        </p:txBody>
      </p:sp>
      <p:pic>
        <p:nvPicPr>
          <p:cNvPr id="3" name="Picture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US" dirty="0" smtClean="0"/>
              <a:t>A Closed Loop </a:t>
            </a:r>
            <a:r>
              <a:rPr lang="en-US" dirty="0" err="1" smtClean="0"/>
              <a:t>Agentic</a:t>
            </a:r>
            <a:r>
              <a:rPr lang="en-US" dirty="0" smtClean="0"/>
              <a:t> Framework for Verifiable Code Translation</a:t>
            </a:r>
            <a:endParaRPr lang="en-IN"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6" name="Footer Placeholder 11">
            <a:extLst>
              <a:ext uri="{FF2B5EF4-FFF2-40B4-BE49-F238E27FC236}">
                <a16:creationId xmlns=""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smtClean="0">
                <a:solidFill>
                  <a:schemeClr val="tx1"/>
                </a:solidFill>
              </a:rPr>
              <a:t>Dept</a:t>
            </a:r>
            <a:r>
              <a:rPr lang="en-IN" dirty="0">
                <a:solidFill>
                  <a:schemeClr val="tx1"/>
                </a:solidFill>
              </a:rPr>
              <a:t>. </a:t>
            </a:r>
            <a:r>
              <a:rPr lang="en-IN" dirty="0" smtClean="0">
                <a:solidFill>
                  <a:schemeClr val="tx1"/>
                </a:solidFill>
              </a:rPr>
              <a:t>CSM @ VVIT</a:t>
            </a:r>
            <a:endParaRPr lang="en-IN" dirty="0">
              <a:solidFill>
                <a:schemeClr val="tx1"/>
              </a:solidFill>
            </a:endParaRPr>
          </a:p>
        </p:txBody>
      </p:sp>
      <p:sp>
        <p:nvSpPr>
          <p:cNvPr id="6" name="TextBox 5"/>
          <p:cNvSpPr txBox="1"/>
          <p:nvPr/>
        </p:nvSpPr>
        <p:spPr>
          <a:xfrm>
            <a:off x="4641448" y="3010622"/>
            <a:ext cx="2236510" cy="646331"/>
          </a:xfrm>
          <a:prstGeom prst="rect">
            <a:avLst/>
          </a:prstGeom>
          <a:noFill/>
        </p:spPr>
        <p:txBody>
          <a:bodyPr wrap="none" rtlCol="0">
            <a:spAutoFit/>
          </a:bodyPr>
          <a:lstStyle/>
          <a:p>
            <a:r>
              <a:rPr lang="en-IN" sz="3600" dirty="0" smtClean="0">
                <a:latin typeface="Times New Roman" panose="02020603050405020304" pitchFamily="18" charset="0"/>
                <a:cs typeface="Times New Roman" panose="02020603050405020304" pitchFamily="18" charset="0"/>
              </a:rPr>
              <a:t>Questions?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322043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1221</TotalTime>
  <Words>3605</Words>
  <Application>Microsoft Office PowerPoint</Application>
  <PresentationFormat>Custom</PresentationFormat>
  <Paragraphs>410</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mualidhar V</dc:creator>
  <cp:lastModifiedBy>Mothukuri Keerthi medha</cp:lastModifiedBy>
  <cp:revision>65</cp:revision>
  <dcterms:created xsi:type="dcterms:W3CDTF">2023-07-18T12:47:32Z</dcterms:created>
  <dcterms:modified xsi:type="dcterms:W3CDTF">2026-09-22T13:52:11Z</dcterms:modified>
</cp:coreProperties>
</file>